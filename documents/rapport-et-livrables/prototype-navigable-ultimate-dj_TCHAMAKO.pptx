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déplacer la diapo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fr-B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modifier le format </a:t>
            </a:r>
            <a:r>
              <a:rPr lang="fr-B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des notes</a:t>
            </a:r>
            <a:endParaRPr lang="fr-B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fr-B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fr-B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fr-B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fr-B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fr-B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fr-B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fr-B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fr-B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fr-B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921D13C4-131F-48B3-8DE4-9D7EB1D8621B}" type="slidenum">
              <a:rPr lang="fr-B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fr-B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1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BE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1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BE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2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BE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2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BE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2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BE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3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BE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3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BE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3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BE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3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BE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4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BE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4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BE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4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BE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5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PlaceHolder 3"/>
          <p:cNvSpPr>
            <a:spLocks noGrp="1"/>
          </p:cNvSpPr>
          <p:nvPr>
            <p:ph type="sldNum" idx="1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BE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5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PlaceHolder 3"/>
          <p:cNvSpPr>
            <a:spLocks noGrp="1"/>
          </p:cNvSpPr>
          <p:nvPr>
            <p:ph type="sldNum" idx="1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BE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5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PlaceHolder 3"/>
          <p:cNvSpPr>
            <a:spLocks noGrp="1"/>
          </p:cNvSpPr>
          <p:nvPr>
            <p:ph type="sldNum" idx="1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BE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6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PlaceHolder 3"/>
          <p:cNvSpPr>
            <a:spLocks noGrp="1"/>
          </p:cNvSpPr>
          <p:nvPr>
            <p:ph type="sldNum" idx="1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BE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fr-B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éditer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le format du texte-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titre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plan de texte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Troisième niveau de plan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Quatrième niveau de plan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Cinquième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Sixième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Septième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2.xml"/><Relationship Id="rId3" Type="http://schemas.openxmlformats.org/officeDocument/2006/relationships/slide" Target="slide14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14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" Target="slide3.xm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" Target="slide4.xml"/><Relationship Id="rId2" Type="http://schemas.openxmlformats.org/officeDocument/2006/relationships/slide" Target="slide16.xml"/><Relationship Id="rId3" Type="http://schemas.openxmlformats.org/officeDocument/2006/relationships/slide" Target="slide1.xml"/><Relationship Id="rId4" Type="http://schemas.openxmlformats.org/officeDocument/2006/relationships/slide" Target="slide2.xml"/><Relationship Id="rId5" Type="http://schemas.openxmlformats.org/officeDocument/2006/relationships/slide" Target="slide4.xm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" Target="slide5.xml"/><Relationship Id="rId2" Type="http://schemas.openxmlformats.org/officeDocument/2006/relationships/slide" Target="slide1.xml"/><Relationship Id="rId3" Type="http://schemas.openxmlformats.org/officeDocument/2006/relationships/slide" Target="slide3.xml"/><Relationship Id="rId4" Type="http://schemas.openxmlformats.org/officeDocument/2006/relationships/slide" Target="slide5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" Target="slide6.xml"/><Relationship Id="rId2" Type="http://schemas.openxmlformats.org/officeDocument/2006/relationships/slide" Target="slide16.xml"/><Relationship Id="rId3" Type="http://schemas.openxmlformats.org/officeDocument/2006/relationships/slide" Target="slide1.xml"/><Relationship Id="rId4" Type="http://schemas.openxmlformats.org/officeDocument/2006/relationships/slide" Target="slide4.xml"/><Relationship Id="rId5" Type="http://schemas.openxmlformats.org/officeDocument/2006/relationships/slide" Target="slide6.xm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" Target="slide8.xml"/><Relationship Id="rId2" Type="http://schemas.openxmlformats.org/officeDocument/2006/relationships/slide" Target="slide7.xml"/><Relationship Id="rId3" Type="http://schemas.openxmlformats.org/officeDocument/2006/relationships/slide" Target="slide1.xml"/><Relationship Id="rId4" Type="http://schemas.openxmlformats.org/officeDocument/2006/relationships/slide" Target="slide5.xml"/><Relationship Id="rId5" Type="http://schemas.openxmlformats.org/officeDocument/2006/relationships/slide" Target="slide7.xm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" Target="slide6.xml"/><Relationship Id="rId2" Type="http://schemas.openxmlformats.org/officeDocument/2006/relationships/slide" Target="slide1.xml"/><Relationship Id="rId3" Type="http://schemas.openxmlformats.org/officeDocument/2006/relationships/slide" Target="slide6.xml"/><Relationship Id="rId4" Type="http://schemas.openxmlformats.org/officeDocument/2006/relationships/slide" Target="slide8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" Target="slide9.xml"/><Relationship Id="rId2" Type="http://schemas.openxmlformats.org/officeDocument/2006/relationships/slide" Target="slide1.xml"/><Relationship Id="rId3" Type="http://schemas.openxmlformats.org/officeDocument/2006/relationships/slide" Target="slide7.xml"/><Relationship Id="rId4" Type="http://schemas.openxmlformats.org/officeDocument/2006/relationships/slide" Target="slide9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" Target="slide10.xml"/><Relationship Id="rId2" Type="http://schemas.openxmlformats.org/officeDocument/2006/relationships/slide" Target="slide1.xml"/><Relationship Id="rId3" Type="http://schemas.openxmlformats.org/officeDocument/2006/relationships/slide" Target="slide8.xml"/><Relationship Id="rId4" Type="http://schemas.openxmlformats.org/officeDocument/2006/relationships/slide" Target="slide10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" Target="slide11.xml"/><Relationship Id="rId2" Type="http://schemas.openxmlformats.org/officeDocument/2006/relationships/slide" Target="slide1.xml"/><Relationship Id="rId3" Type="http://schemas.openxmlformats.org/officeDocument/2006/relationships/slide" Target="slide9.xml"/><Relationship Id="rId4" Type="http://schemas.openxmlformats.org/officeDocument/2006/relationships/slide" Target="slide1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" Target="slide12.xml"/><Relationship Id="rId2" Type="http://schemas.openxmlformats.org/officeDocument/2006/relationships/slide" Target="slide10.xml"/><Relationship Id="rId3" Type="http://schemas.openxmlformats.org/officeDocument/2006/relationships/slide" Target="slide1.xml"/><Relationship Id="rId4" Type="http://schemas.openxmlformats.org/officeDocument/2006/relationships/slide" Target="slide10.xml"/><Relationship Id="rId5" Type="http://schemas.openxmlformats.org/officeDocument/2006/relationships/slide" Target="slide12.xm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" Target="slide13.xml"/><Relationship Id="rId2" Type="http://schemas.openxmlformats.org/officeDocument/2006/relationships/slide" Target="slide1.xml"/><Relationship Id="rId3" Type="http://schemas.openxmlformats.org/officeDocument/2006/relationships/slide" Target="slide11.xml"/><Relationship Id="rId4" Type="http://schemas.openxmlformats.org/officeDocument/2006/relationships/slide" Target="slide13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" Target="slide15.xml"/><Relationship Id="rId2" Type="http://schemas.openxmlformats.org/officeDocument/2006/relationships/slide" Target="slide16.xml"/><Relationship Id="rId3" Type="http://schemas.openxmlformats.org/officeDocument/2006/relationships/slide" Target="slide1.xml"/><Relationship Id="rId4" Type="http://schemas.openxmlformats.org/officeDocument/2006/relationships/slide" Target="slide12.xml"/><Relationship Id="rId5" Type="http://schemas.openxmlformats.org/officeDocument/2006/relationships/slide" Target="slide14.xm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13.xml"/><Relationship Id="rId4" Type="http://schemas.openxmlformats.org/officeDocument/2006/relationships/slide" Target="slide15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" Target="slide13.xml"/><Relationship Id="rId2" Type="http://schemas.openxmlformats.org/officeDocument/2006/relationships/slide" Target="slide1.xml"/><Relationship Id="rId3" Type="http://schemas.openxmlformats.org/officeDocument/2006/relationships/slide" Target="slide14.xml"/><Relationship Id="rId4" Type="http://schemas.openxmlformats.org/officeDocument/2006/relationships/slide" Target="slide16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" Target="slide5.xml"/><Relationship Id="rId2" Type="http://schemas.openxmlformats.org/officeDocument/2006/relationships/slide" Target="slide1.xml"/><Relationship Id="rId3" Type="http://schemas.openxmlformats.org/officeDocument/2006/relationships/slide" Target="slide1.xml"/><Relationship Id="rId4" Type="http://schemas.openxmlformats.org/officeDocument/2006/relationships/slide" Target="slide15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90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-title"/>
          <p:cNvSpPr/>
          <p:nvPr/>
        </p:nvSpPr>
        <p:spPr>
          <a:xfrm>
            <a:off x="438120" y="247680"/>
            <a:ext cx="809604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2320" b="1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Ultimat</a:t>
            </a:r>
            <a:r>
              <a:rPr lang="fr-BE" sz="2320" b="1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e DJ</a:t>
            </a:r>
            <a:endParaRPr lang="fr-BE" sz="2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slide-subtitle"/>
          <p:cNvSpPr/>
          <p:nvPr/>
        </p:nvSpPr>
        <p:spPr>
          <a:xfrm>
            <a:off x="457200" y="666720"/>
            <a:ext cx="80960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B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lide-count"/>
          <p:cNvSpPr/>
          <p:nvPr/>
        </p:nvSpPr>
        <p:spPr>
          <a:xfrm>
            <a:off x="11125080" y="343080"/>
            <a:ext cx="6663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13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1/16</a:t>
            </a:r>
            <a:endParaRPr lang="fr-BE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op-rule"/>
          <p:cNvSpPr/>
          <p:nvPr/>
        </p:nvSpPr>
        <p:spPr>
          <a:xfrm>
            <a:off x="438120" y="1028520"/>
            <a:ext cx="11315520" cy="360"/>
          </a:xfrm>
          <a:prstGeom prst="line">
            <a:avLst/>
          </a:prstGeom>
          <a:ln w="9525">
            <a:solidFill>
              <a:srgbClr val="2B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B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" name=""/>
          <p:cNvPicPr/>
          <p:nvPr/>
        </p:nvPicPr>
        <p:blipFill>
          <a:blip r:embed="rId1"/>
          <a:stretch/>
        </p:blipFill>
        <p:spPr>
          <a:xfrm>
            <a:off x="1206360" y="1428840"/>
            <a:ext cx="5778000" cy="2476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" name="intro-copy"/>
          <p:cNvSpPr/>
          <p:nvPr/>
        </p:nvSpPr>
        <p:spPr>
          <a:xfrm>
            <a:off x="7429680" y="1562040"/>
            <a:ext cx="3714480" cy="161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8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Ce </a:t>
            </a:r>
            <a:r>
              <a:rPr lang="en-US" sz="158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proto</a:t>
            </a:r>
            <a:r>
              <a:rPr lang="en-US" sz="158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type </a:t>
            </a:r>
            <a:r>
              <a:rPr lang="en-US" sz="158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simul</a:t>
            </a:r>
            <a:r>
              <a:rPr lang="en-US" sz="158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e les </a:t>
            </a:r>
            <a:r>
              <a:rPr lang="en-US" sz="158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écran</a:t>
            </a:r>
            <a:r>
              <a:rPr lang="en-US" sz="158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s </a:t>
            </a:r>
            <a:r>
              <a:rPr lang="en-US" sz="158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princi</a:t>
            </a:r>
            <a:r>
              <a:rPr lang="en-US" sz="158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paux </a:t>
            </a:r>
            <a:r>
              <a:rPr lang="en-US" sz="158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et les </a:t>
            </a:r>
            <a:r>
              <a:rPr lang="en-US" sz="158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décisi</a:t>
            </a:r>
            <a:r>
              <a:rPr lang="en-US" sz="158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ons </a:t>
            </a:r>
            <a:r>
              <a:rPr lang="en-US" sz="158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métie</a:t>
            </a:r>
            <a:r>
              <a:rPr lang="en-US" sz="158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r : </a:t>
            </a:r>
            <a:r>
              <a:rPr lang="en-US" sz="158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consu</a:t>
            </a:r>
            <a:r>
              <a:rPr lang="en-US" sz="158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lter </a:t>
            </a:r>
            <a:r>
              <a:rPr lang="en-US" sz="158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une </a:t>
            </a:r>
            <a:r>
              <a:rPr lang="en-US" sz="158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offre, </a:t>
            </a:r>
            <a:r>
              <a:rPr lang="en-US" sz="158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vérifi</a:t>
            </a:r>
            <a:r>
              <a:rPr lang="en-US" sz="158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er les </a:t>
            </a:r>
            <a:r>
              <a:rPr lang="en-US" sz="158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dispo</a:t>
            </a:r>
            <a:r>
              <a:rPr lang="en-US" sz="158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nibilit</a:t>
            </a:r>
            <a:r>
              <a:rPr lang="en-US" sz="158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és, </a:t>
            </a:r>
            <a:r>
              <a:rPr lang="en-US" sz="158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dema</a:t>
            </a:r>
            <a:r>
              <a:rPr lang="en-US" sz="158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nder </a:t>
            </a:r>
            <a:r>
              <a:rPr lang="en-US" sz="158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un </a:t>
            </a:r>
            <a:r>
              <a:rPr lang="en-US" sz="158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devis, </a:t>
            </a:r>
            <a:r>
              <a:rPr lang="en-US" sz="158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valide</a:t>
            </a:r>
            <a:r>
              <a:rPr lang="en-US" sz="158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r un </a:t>
            </a:r>
            <a:r>
              <a:rPr lang="en-US" sz="158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contr</a:t>
            </a:r>
            <a:r>
              <a:rPr lang="en-US" sz="158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at, </a:t>
            </a:r>
            <a:r>
              <a:rPr lang="en-US" sz="158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payer </a:t>
            </a:r>
            <a:r>
              <a:rPr lang="en-US" sz="158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un </a:t>
            </a:r>
            <a:r>
              <a:rPr lang="en-US" sz="158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acom</a:t>
            </a:r>
            <a:r>
              <a:rPr lang="en-US" sz="158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pte, </a:t>
            </a:r>
            <a:r>
              <a:rPr lang="en-US" sz="158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suivre </a:t>
            </a:r>
            <a:r>
              <a:rPr lang="en-US" sz="158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l'évén</a:t>
            </a:r>
            <a:r>
              <a:rPr lang="en-US" sz="158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emen</a:t>
            </a:r>
            <a:r>
              <a:rPr lang="en-US" sz="158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58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 et </a:t>
            </a:r>
            <a:r>
              <a:rPr lang="en-US" sz="158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laisse</a:t>
            </a:r>
            <a:r>
              <a:rPr lang="en-US" sz="158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r un </a:t>
            </a:r>
            <a:r>
              <a:rPr lang="en-US" sz="158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avis.</a:t>
            </a:r>
            <a:endParaRPr lang="fr-BE" sz="15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tart-main-flow">
            <a:hlinkClick r:id="rId2" action="ppaction://hlinksldjump"/>
          </p:cNvPr>
          <p:cNvSpPr/>
          <p:nvPr/>
        </p:nvSpPr>
        <p:spPr>
          <a:xfrm>
            <a:off x="7429680" y="3619440"/>
            <a:ext cx="2761920" cy="437760"/>
          </a:xfrm>
          <a:prstGeom prst="roundRect">
            <a:avLst>
              <a:gd name="adj" fmla="val 13043"/>
            </a:avLst>
          </a:prstGeom>
          <a:solidFill>
            <a:srgbClr val="13BFEA"/>
          </a:solidFill>
          <a:ln w="9525">
            <a:solidFill>
              <a:srgbClr val="13B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8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Commencer la navigation</a:t>
            </a:r>
            <a:endParaRPr lang="fr-BE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go-profile-flow">
            <a:hlinkClick r:id="rId3" action="ppaction://hlinksldjump"/>
          </p:cNvPr>
          <p:cNvSpPr/>
          <p:nvPr/>
        </p:nvSpPr>
        <p:spPr>
          <a:xfrm>
            <a:off x="7429680" y="4172040"/>
            <a:ext cx="1999800" cy="361440"/>
          </a:xfrm>
          <a:prstGeom prst="roundRect">
            <a:avLst>
              <a:gd name="adj" fmla="val 15789"/>
            </a:avLst>
          </a:prstGeom>
          <a:solidFill>
            <a:srgbClr val="17213C"/>
          </a:solidFill>
          <a:ln w="9525">
            <a:solidFill>
              <a:srgbClr val="1721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8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Tester le profil</a:t>
            </a:r>
            <a:endParaRPr lang="fr-BE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note"/>
          <p:cNvSpPr/>
          <p:nvPr/>
        </p:nvSpPr>
        <p:spPr>
          <a:xfrm>
            <a:off x="7429680" y="4781520"/>
            <a:ext cx="37144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13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Les zones cliquables sont les boutons et certains choix de parcours.</a:t>
            </a:r>
            <a:endParaRPr lang="fr-BE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90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-title"/>
          <p:cNvSpPr/>
          <p:nvPr/>
        </p:nvSpPr>
        <p:spPr>
          <a:xfrm>
            <a:off x="438120" y="247680"/>
            <a:ext cx="809604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2320" b="1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L’accueil oriente vers les offres et la réservation</a:t>
            </a:r>
            <a:endParaRPr lang="fr-BE" sz="2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slide-subtitle"/>
          <p:cNvSpPr/>
          <p:nvPr/>
        </p:nvSpPr>
        <p:spPr>
          <a:xfrm>
            <a:off x="457200" y="666720"/>
            <a:ext cx="80960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Le </a:t>
            </a:r>
            <a:r>
              <a:rPr lang="fr-BE" sz="12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visiteur </a:t>
            </a:r>
            <a:r>
              <a:rPr lang="fr-BE" sz="12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compre</a:t>
            </a:r>
            <a:r>
              <a:rPr lang="fr-BE" sz="12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nd </a:t>
            </a:r>
            <a:r>
              <a:rPr lang="fr-BE" sz="12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rapide</a:t>
            </a:r>
            <a:r>
              <a:rPr lang="fr-BE" sz="12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ment le </a:t>
            </a:r>
            <a:r>
              <a:rPr lang="fr-BE" sz="12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service </a:t>
            </a:r>
            <a:r>
              <a:rPr lang="fr-BE" sz="12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propos</a:t>
            </a:r>
            <a:r>
              <a:rPr lang="fr-BE" sz="12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é</a:t>
            </a:r>
            <a:endParaRPr lang="fr-B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slide-count"/>
          <p:cNvSpPr/>
          <p:nvPr/>
        </p:nvSpPr>
        <p:spPr>
          <a:xfrm>
            <a:off x="11125080" y="343080"/>
            <a:ext cx="6663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13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2/16</a:t>
            </a:r>
            <a:endParaRPr lang="fr-BE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op-rule"/>
          <p:cNvSpPr/>
          <p:nvPr/>
        </p:nvSpPr>
        <p:spPr>
          <a:xfrm>
            <a:off x="438120" y="1028520"/>
            <a:ext cx="11315520" cy="360"/>
          </a:xfrm>
          <a:prstGeom prst="line">
            <a:avLst/>
          </a:prstGeom>
          <a:ln w="9525">
            <a:solidFill>
              <a:srgbClr val="2B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B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browser-frame"/>
          <p:cNvSpPr/>
          <p:nvPr/>
        </p:nvSpPr>
        <p:spPr>
          <a:xfrm>
            <a:off x="438120" y="1181160"/>
            <a:ext cx="11315520" cy="4838400"/>
          </a:xfrm>
          <a:prstGeom prst="roundRect">
            <a:avLst>
              <a:gd name="adj" fmla="val 1575"/>
            </a:avLst>
          </a:prstGeom>
          <a:solidFill>
            <a:srgbClr val="F8FAFC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browser-top"/>
          <p:cNvSpPr/>
          <p:nvPr/>
        </p:nvSpPr>
        <p:spPr>
          <a:xfrm>
            <a:off x="438120" y="1181160"/>
            <a:ext cx="11315520" cy="495000"/>
          </a:xfrm>
          <a:prstGeom prst="roundRect">
            <a:avLst>
              <a:gd name="adj" fmla="val 15385"/>
            </a:avLst>
          </a:prstGeom>
          <a:solidFill>
            <a:srgbClr val="EAF0F7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ab-accueil"/>
          <p:cNvSpPr/>
          <p:nvPr/>
        </p:nvSpPr>
        <p:spPr>
          <a:xfrm>
            <a:off x="666720" y="1305000"/>
            <a:ext cx="1199880" cy="266400"/>
          </a:xfrm>
          <a:prstGeom prst="roundRect">
            <a:avLst>
              <a:gd name="adj" fmla="val 21429"/>
            </a:avLst>
          </a:prstGeom>
          <a:solidFill>
            <a:srgbClr val="090E1E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98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Accueil</a:t>
            </a:r>
            <a:endParaRPr lang="fr-BE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ab-offres"/>
          <p:cNvSpPr/>
          <p:nvPr/>
        </p:nvSpPr>
        <p:spPr>
          <a:xfrm>
            <a:off x="1962000" y="1305000"/>
            <a:ext cx="1199880" cy="2664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980" b="1" u="none" strike="noStrike">
                <a:solidFill>
                  <a:srgbClr val="25324B"/>
                </a:solidFill>
                <a:effectLst/>
                <a:uFillTx/>
                <a:latin typeface="Calibri"/>
                <a:ea typeface="Calibri"/>
              </a:rPr>
              <a:t>Offres</a:t>
            </a:r>
            <a:endParaRPr lang="fr-BE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ab-djs"/>
          <p:cNvSpPr/>
          <p:nvPr/>
        </p:nvSpPr>
        <p:spPr>
          <a:xfrm>
            <a:off x="3257640" y="1305000"/>
            <a:ext cx="1199880" cy="2664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980" b="1" u="none" strike="noStrike">
                <a:solidFill>
                  <a:srgbClr val="25324B"/>
                </a:solidFill>
                <a:effectLst/>
                <a:uFillTx/>
                <a:latin typeface="Calibri"/>
                <a:ea typeface="Calibri"/>
              </a:rPr>
              <a:t>DJs</a:t>
            </a:r>
            <a:endParaRPr lang="fr-BE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ab-réservation"/>
          <p:cNvSpPr/>
          <p:nvPr/>
        </p:nvSpPr>
        <p:spPr>
          <a:xfrm>
            <a:off x="4552920" y="1305000"/>
            <a:ext cx="1199880" cy="2664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980" b="1" u="none" strike="noStrike">
                <a:solidFill>
                  <a:srgbClr val="25324B"/>
                </a:solidFill>
                <a:effectLst/>
                <a:uFillTx/>
                <a:latin typeface="Calibri"/>
                <a:ea typeface="Calibri"/>
              </a:rPr>
              <a:t>Réservation</a:t>
            </a:r>
            <a:endParaRPr lang="fr-BE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ab-profil"/>
          <p:cNvSpPr/>
          <p:nvPr/>
        </p:nvSpPr>
        <p:spPr>
          <a:xfrm>
            <a:off x="5848200" y="1305000"/>
            <a:ext cx="1199880" cy="2664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980" b="1" u="none" strike="noStrike">
                <a:solidFill>
                  <a:srgbClr val="25324B"/>
                </a:solidFill>
                <a:effectLst/>
                <a:uFillTx/>
                <a:latin typeface="Calibri"/>
                <a:ea typeface="Calibri"/>
              </a:rPr>
              <a:t>Profil</a:t>
            </a:r>
            <a:endParaRPr lang="fr-BE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hero-title"/>
          <p:cNvSpPr/>
          <p:nvPr/>
        </p:nvSpPr>
        <p:spPr>
          <a:xfrm>
            <a:off x="857160" y="2000160"/>
            <a:ext cx="523836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24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Réserver un DJ pour votre événement</a:t>
            </a:r>
            <a:endParaRPr lang="fr-BE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hero-copy"/>
          <p:cNvSpPr/>
          <p:nvPr/>
        </p:nvSpPr>
        <p:spPr>
          <a:xfrm>
            <a:off x="857160" y="2571840"/>
            <a:ext cx="49525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3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Packages, options, choix musical, devis et acompte en ligne.</a:t>
            </a:r>
            <a:endParaRPr lang="fr-BE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home-see-offers">
            <a:hlinkClick r:id="rId1" action="ppaction://hlinksldjump"/>
          </p:cNvPr>
          <p:cNvSpPr/>
          <p:nvPr/>
        </p:nvSpPr>
        <p:spPr>
          <a:xfrm>
            <a:off x="857160" y="3143160"/>
            <a:ext cx="1714320" cy="399600"/>
          </a:xfrm>
          <a:prstGeom prst="roundRect">
            <a:avLst>
              <a:gd name="adj" fmla="val 14286"/>
            </a:avLst>
          </a:prstGeom>
          <a:solidFill>
            <a:srgbClr val="13BFEA"/>
          </a:solidFill>
          <a:ln w="9525">
            <a:solidFill>
              <a:srgbClr val="13B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8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Voir les offres</a:t>
            </a:r>
            <a:endParaRPr lang="fr-BE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home-change-lang">
            <a:hlinkClick r:id="rId2" action="ppaction://hlinksldjump"/>
          </p:cNvPr>
          <p:cNvSpPr/>
          <p:nvPr/>
        </p:nvSpPr>
        <p:spPr>
          <a:xfrm>
            <a:off x="2685960" y="3143160"/>
            <a:ext cx="1809360" cy="399600"/>
          </a:xfrm>
          <a:prstGeom prst="roundRect">
            <a:avLst>
              <a:gd name="adj" fmla="val 14286"/>
            </a:avLst>
          </a:prstGeom>
          <a:solidFill>
            <a:srgbClr val="17213C"/>
          </a:solidFill>
          <a:ln w="9525">
            <a:solidFill>
              <a:srgbClr val="1721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8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Langue : FR / EN / NL</a:t>
            </a:r>
            <a:endParaRPr lang="fr-BE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home-card-1"/>
          <p:cNvSpPr/>
          <p:nvPr/>
        </p:nvSpPr>
        <p:spPr>
          <a:xfrm>
            <a:off x="6572160" y="2095560"/>
            <a:ext cx="2095200" cy="1428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home-card-1-accent"/>
          <p:cNvSpPr/>
          <p:nvPr/>
        </p:nvSpPr>
        <p:spPr>
          <a:xfrm>
            <a:off x="6572160" y="2095560"/>
            <a:ext cx="75960" cy="1428480"/>
          </a:xfrm>
          <a:prstGeom prst="rect">
            <a:avLst/>
          </a:prstGeom>
          <a:solidFill>
            <a:srgbClr val="FFC24B"/>
          </a:solidFill>
          <a:ln w="0">
            <a:solidFill>
              <a:srgbClr val="FFC24B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home-card-1-title"/>
          <p:cNvSpPr/>
          <p:nvPr/>
        </p:nvSpPr>
        <p:spPr>
          <a:xfrm>
            <a:off x="6781680" y="2247840"/>
            <a:ext cx="17521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5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Mariage</a:t>
            </a:r>
            <a:endParaRPr lang="fr-B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home-card-1-body"/>
          <p:cNvSpPr/>
          <p:nvPr/>
        </p:nvSpPr>
        <p:spPr>
          <a:xfrm>
            <a:off x="6781680" y="2590920"/>
            <a:ext cx="1752120" cy="81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13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Rendez-vous préparatoire recommandé, contrat personnalisé et acompte.</a:t>
            </a:r>
            <a:endParaRPr lang="fr-BE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home-card-2"/>
          <p:cNvSpPr/>
          <p:nvPr/>
        </p:nvSpPr>
        <p:spPr>
          <a:xfrm>
            <a:off x="8877240" y="2095560"/>
            <a:ext cx="2095200" cy="1428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home-card-2-accent"/>
          <p:cNvSpPr/>
          <p:nvPr/>
        </p:nvSpPr>
        <p:spPr>
          <a:xfrm>
            <a:off x="8877240" y="2095560"/>
            <a:ext cx="75960" cy="1428480"/>
          </a:xfrm>
          <a:prstGeom prst="rect">
            <a:avLst/>
          </a:prstGeom>
          <a:solidFill>
            <a:srgbClr val="13BFEA"/>
          </a:solidFill>
          <a:ln w="0">
            <a:solidFill>
              <a:srgbClr val="13BFEA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home-card-2-title"/>
          <p:cNvSpPr/>
          <p:nvPr/>
        </p:nvSpPr>
        <p:spPr>
          <a:xfrm>
            <a:off x="9086760" y="2247840"/>
            <a:ext cx="17521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5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Entreprise</a:t>
            </a:r>
            <a:endParaRPr lang="fr-B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home-card-2-body"/>
          <p:cNvSpPr/>
          <p:nvPr/>
        </p:nvSpPr>
        <p:spPr>
          <a:xfrm>
            <a:off x="9086760" y="2590920"/>
            <a:ext cx="1752120" cy="81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13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Animation, sonorisation, éclairage et facture professionnelle.</a:t>
            </a:r>
            <a:endParaRPr lang="fr-BE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home-card-3"/>
          <p:cNvSpPr/>
          <p:nvPr/>
        </p:nvSpPr>
        <p:spPr>
          <a:xfrm>
            <a:off x="7734240" y="3772080"/>
            <a:ext cx="2095200" cy="1428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home-card-3-accent"/>
          <p:cNvSpPr/>
          <p:nvPr/>
        </p:nvSpPr>
        <p:spPr>
          <a:xfrm>
            <a:off x="7734240" y="3772080"/>
            <a:ext cx="75960" cy="1428480"/>
          </a:xfrm>
          <a:prstGeom prst="rect">
            <a:avLst/>
          </a:prstGeom>
          <a:solidFill>
            <a:srgbClr val="FF2D8B"/>
          </a:solidFill>
          <a:ln w="0">
            <a:solidFill>
              <a:srgbClr val="FF2D8B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B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home-card-3-title"/>
          <p:cNvSpPr/>
          <p:nvPr/>
        </p:nvSpPr>
        <p:spPr>
          <a:xfrm>
            <a:off x="7943760" y="3924360"/>
            <a:ext cx="17521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5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Soirée privée</a:t>
            </a:r>
            <a:endParaRPr lang="fr-B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home-card-3-body"/>
          <p:cNvSpPr/>
          <p:nvPr/>
        </p:nvSpPr>
        <p:spPr>
          <a:xfrm>
            <a:off x="7943760" y="4267080"/>
            <a:ext cx="1752120" cy="81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13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Formule plus simple avec options et playlist client.</a:t>
            </a:r>
            <a:endParaRPr lang="fr-BE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nav-2-home">
            <a:hlinkClick r:id="rId3" action="ppaction://hlinksldjump"/>
          </p:cNvPr>
          <p:cNvSpPr/>
          <p:nvPr/>
        </p:nvSpPr>
        <p:spPr>
          <a:xfrm>
            <a:off x="438120" y="6305400"/>
            <a:ext cx="1028520" cy="342720"/>
          </a:xfrm>
          <a:prstGeom prst="roundRect">
            <a:avLst>
              <a:gd name="adj" fmla="val 16667"/>
            </a:avLst>
          </a:prstGeom>
          <a:solidFill>
            <a:srgbClr val="17213C"/>
          </a:solidFill>
          <a:ln w="9525">
            <a:solidFill>
              <a:srgbClr val="1721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8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Accueil</a:t>
            </a:r>
            <a:endParaRPr lang="fr-BE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nav-2-prev">
            <a:hlinkClick r:id="rId4" action="ppaction://hlinksldjump"/>
          </p:cNvPr>
          <p:cNvSpPr/>
          <p:nvPr/>
        </p:nvSpPr>
        <p:spPr>
          <a:xfrm>
            <a:off x="1562040" y="6305400"/>
            <a:ext cx="1028520" cy="342720"/>
          </a:xfrm>
          <a:prstGeom prst="roundRect">
            <a:avLst>
              <a:gd name="adj" fmla="val 16667"/>
            </a:avLst>
          </a:prstGeom>
          <a:solidFill>
            <a:srgbClr val="17213C"/>
          </a:solidFill>
          <a:ln w="9525">
            <a:solidFill>
              <a:srgbClr val="1721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8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Retour</a:t>
            </a:r>
            <a:endParaRPr lang="fr-BE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nav-2-next">
            <a:hlinkClick r:id="rId5" action="ppaction://hlinksldjump"/>
          </p:cNvPr>
          <p:cNvSpPr/>
          <p:nvPr/>
        </p:nvSpPr>
        <p:spPr>
          <a:xfrm>
            <a:off x="10363320" y="6305400"/>
            <a:ext cx="1390320" cy="342720"/>
          </a:xfrm>
          <a:prstGeom prst="roundRect">
            <a:avLst>
              <a:gd name="adj" fmla="val 16667"/>
            </a:avLst>
          </a:prstGeom>
          <a:solidFill>
            <a:srgbClr val="13BFEA"/>
          </a:solidFill>
          <a:ln w="9525">
            <a:solidFill>
              <a:srgbClr val="13B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8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Suivant</a:t>
            </a:r>
            <a:endParaRPr lang="fr-BE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90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lide-title"/>
          <p:cNvSpPr/>
          <p:nvPr/>
        </p:nvSpPr>
        <p:spPr>
          <a:xfrm>
            <a:off x="438120" y="247680"/>
            <a:ext cx="809604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2320" b="1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Les offres présentent les packages et les options</a:t>
            </a:r>
            <a:endParaRPr lang="fr-BE" sz="2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slide-subtitle"/>
          <p:cNvSpPr/>
          <p:nvPr/>
        </p:nvSpPr>
        <p:spPr>
          <a:xfrm>
            <a:off x="457200" y="666720"/>
            <a:ext cx="80960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Le client choisit une formule avant de vérifier les disponibilités</a:t>
            </a:r>
            <a:endParaRPr lang="fr-B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slide-count"/>
          <p:cNvSpPr/>
          <p:nvPr/>
        </p:nvSpPr>
        <p:spPr>
          <a:xfrm>
            <a:off x="11125080" y="343080"/>
            <a:ext cx="6663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13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3/16</a:t>
            </a:r>
            <a:endParaRPr lang="fr-BE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op-rule"/>
          <p:cNvSpPr/>
          <p:nvPr/>
        </p:nvSpPr>
        <p:spPr>
          <a:xfrm>
            <a:off x="438120" y="1028520"/>
            <a:ext cx="11315520" cy="360"/>
          </a:xfrm>
          <a:prstGeom prst="line">
            <a:avLst/>
          </a:prstGeom>
          <a:ln w="9525">
            <a:solidFill>
              <a:srgbClr val="2B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B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browser-frame"/>
          <p:cNvSpPr/>
          <p:nvPr/>
        </p:nvSpPr>
        <p:spPr>
          <a:xfrm>
            <a:off x="438120" y="1181160"/>
            <a:ext cx="11315520" cy="4838400"/>
          </a:xfrm>
          <a:prstGeom prst="roundRect">
            <a:avLst>
              <a:gd name="adj" fmla="val 1575"/>
            </a:avLst>
          </a:prstGeom>
          <a:solidFill>
            <a:srgbClr val="F8FAFC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browser-top"/>
          <p:cNvSpPr/>
          <p:nvPr/>
        </p:nvSpPr>
        <p:spPr>
          <a:xfrm>
            <a:off x="438120" y="1181160"/>
            <a:ext cx="11315520" cy="495000"/>
          </a:xfrm>
          <a:prstGeom prst="roundRect">
            <a:avLst>
              <a:gd name="adj" fmla="val 15385"/>
            </a:avLst>
          </a:prstGeom>
          <a:solidFill>
            <a:srgbClr val="EAF0F7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ab-accueil"/>
          <p:cNvSpPr/>
          <p:nvPr/>
        </p:nvSpPr>
        <p:spPr>
          <a:xfrm>
            <a:off x="666720" y="1305000"/>
            <a:ext cx="1199880" cy="2664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980" b="1" u="none" strike="noStrike">
                <a:solidFill>
                  <a:srgbClr val="25324B"/>
                </a:solidFill>
                <a:effectLst/>
                <a:uFillTx/>
                <a:latin typeface="Calibri"/>
                <a:ea typeface="Calibri"/>
              </a:rPr>
              <a:t>Accueil</a:t>
            </a:r>
            <a:endParaRPr lang="fr-BE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ab-offres"/>
          <p:cNvSpPr/>
          <p:nvPr/>
        </p:nvSpPr>
        <p:spPr>
          <a:xfrm>
            <a:off x="1962000" y="1305000"/>
            <a:ext cx="1199880" cy="266400"/>
          </a:xfrm>
          <a:prstGeom prst="roundRect">
            <a:avLst>
              <a:gd name="adj" fmla="val 21429"/>
            </a:avLst>
          </a:prstGeom>
          <a:solidFill>
            <a:srgbClr val="090E1E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98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Offres</a:t>
            </a:r>
            <a:endParaRPr lang="fr-BE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ab-djs"/>
          <p:cNvSpPr/>
          <p:nvPr/>
        </p:nvSpPr>
        <p:spPr>
          <a:xfrm>
            <a:off x="3257640" y="1305000"/>
            <a:ext cx="1199880" cy="2664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980" b="1" u="none" strike="noStrike">
                <a:solidFill>
                  <a:srgbClr val="25324B"/>
                </a:solidFill>
                <a:effectLst/>
                <a:uFillTx/>
                <a:latin typeface="Calibri"/>
                <a:ea typeface="Calibri"/>
              </a:rPr>
              <a:t>DJs</a:t>
            </a:r>
            <a:endParaRPr lang="fr-BE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ab-réservation"/>
          <p:cNvSpPr/>
          <p:nvPr/>
        </p:nvSpPr>
        <p:spPr>
          <a:xfrm>
            <a:off x="4552920" y="1305000"/>
            <a:ext cx="1199880" cy="2664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980" b="1" u="none" strike="noStrike">
                <a:solidFill>
                  <a:srgbClr val="25324B"/>
                </a:solidFill>
                <a:effectLst/>
                <a:uFillTx/>
                <a:latin typeface="Calibri"/>
                <a:ea typeface="Calibri"/>
              </a:rPr>
              <a:t>Réservation</a:t>
            </a:r>
            <a:endParaRPr lang="fr-BE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ab-profil"/>
          <p:cNvSpPr/>
          <p:nvPr/>
        </p:nvSpPr>
        <p:spPr>
          <a:xfrm>
            <a:off x="5848200" y="1305000"/>
            <a:ext cx="1199880" cy="2664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980" b="1" u="none" strike="noStrike">
                <a:solidFill>
                  <a:srgbClr val="25324B"/>
                </a:solidFill>
                <a:effectLst/>
                <a:uFillTx/>
                <a:latin typeface="Calibri"/>
                <a:ea typeface="Calibri"/>
              </a:rPr>
              <a:t>Profil</a:t>
            </a:r>
            <a:endParaRPr lang="fr-BE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offer-basic"/>
          <p:cNvSpPr/>
          <p:nvPr/>
        </p:nvSpPr>
        <p:spPr>
          <a:xfrm>
            <a:off x="838080" y="2048040"/>
            <a:ext cx="2952360" cy="19998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offer-basic-accent"/>
          <p:cNvSpPr/>
          <p:nvPr/>
        </p:nvSpPr>
        <p:spPr>
          <a:xfrm>
            <a:off x="838080" y="2048040"/>
            <a:ext cx="75960" cy="1999800"/>
          </a:xfrm>
          <a:prstGeom prst="rect">
            <a:avLst/>
          </a:prstGeom>
          <a:solidFill>
            <a:srgbClr val="13BFEA"/>
          </a:solidFill>
          <a:ln w="0">
            <a:solidFill>
              <a:srgbClr val="13BFEA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offer-basic-title"/>
          <p:cNvSpPr/>
          <p:nvPr/>
        </p:nvSpPr>
        <p:spPr>
          <a:xfrm>
            <a:off x="1047600" y="2200320"/>
            <a:ext cx="26096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5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Formule Basic</a:t>
            </a:r>
            <a:endParaRPr lang="fr-B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offer-basic-body"/>
          <p:cNvSpPr/>
          <p:nvPr/>
        </p:nvSpPr>
        <p:spPr>
          <a:xfrm>
            <a:off x="1047600" y="2543040"/>
            <a:ext cx="2609640" cy="139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13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DJ 3h, playlist générale, sonorisation simple.</a:t>
            </a:r>
            <a:endParaRPr lang="fr-BE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13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À partir de 350 €</a:t>
            </a:r>
            <a:endParaRPr lang="fr-BE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offer-event"/>
          <p:cNvSpPr/>
          <p:nvPr/>
        </p:nvSpPr>
        <p:spPr>
          <a:xfrm>
            <a:off x="4095720" y="2048040"/>
            <a:ext cx="3142800" cy="19998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offer-event-accent"/>
          <p:cNvSpPr/>
          <p:nvPr/>
        </p:nvSpPr>
        <p:spPr>
          <a:xfrm>
            <a:off x="4095720" y="2048040"/>
            <a:ext cx="75960" cy="1999800"/>
          </a:xfrm>
          <a:prstGeom prst="rect">
            <a:avLst/>
          </a:prstGeom>
          <a:solidFill>
            <a:srgbClr val="FF2D8B"/>
          </a:solidFill>
          <a:ln w="0">
            <a:solidFill>
              <a:srgbClr val="FF2D8B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B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offer-event-title"/>
          <p:cNvSpPr/>
          <p:nvPr/>
        </p:nvSpPr>
        <p:spPr>
          <a:xfrm>
            <a:off x="4305240" y="2200320"/>
            <a:ext cx="28000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5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Formule Event</a:t>
            </a:r>
            <a:endParaRPr lang="fr-B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offer-event-body"/>
          <p:cNvSpPr/>
          <p:nvPr/>
        </p:nvSpPr>
        <p:spPr>
          <a:xfrm>
            <a:off x="4305240" y="2543040"/>
            <a:ext cx="2800080" cy="139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13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DJ 5h, éclairage, animation micro, playlist personnalisée.</a:t>
            </a:r>
            <a:endParaRPr lang="fr-BE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13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À partir de 650 €</a:t>
            </a:r>
            <a:endParaRPr lang="fr-BE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offer-premium"/>
          <p:cNvSpPr/>
          <p:nvPr/>
        </p:nvSpPr>
        <p:spPr>
          <a:xfrm>
            <a:off x="7543800" y="2048040"/>
            <a:ext cx="3142800" cy="19998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offer-premium-accent"/>
          <p:cNvSpPr/>
          <p:nvPr/>
        </p:nvSpPr>
        <p:spPr>
          <a:xfrm>
            <a:off x="7543800" y="2048040"/>
            <a:ext cx="75960" cy="1999800"/>
          </a:xfrm>
          <a:prstGeom prst="rect">
            <a:avLst/>
          </a:prstGeom>
          <a:solidFill>
            <a:srgbClr val="FFC24B"/>
          </a:solidFill>
          <a:ln w="0">
            <a:solidFill>
              <a:srgbClr val="FFC24B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offer-premium-title"/>
          <p:cNvSpPr/>
          <p:nvPr/>
        </p:nvSpPr>
        <p:spPr>
          <a:xfrm>
            <a:off x="7753320" y="2200320"/>
            <a:ext cx="28000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5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Formule Premium</a:t>
            </a:r>
            <a:endParaRPr lang="fr-B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offer-premium-body"/>
          <p:cNvSpPr/>
          <p:nvPr/>
        </p:nvSpPr>
        <p:spPr>
          <a:xfrm>
            <a:off x="7753320" y="2543040"/>
            <a:ext cx="2800080" cy="139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13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Mariage ou entreprise, rendez-vous préparatoire, contrat personnalisé.</a:t>
            </a:r>
            <a:endParaRPr lang="fr-BE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13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À partir de 950 €</a:t>
            </a:r>
            <a:endParaRPr lang="fr-BE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select-premium">
            <a:hlinkClick r:id="rId1" action="ppaction://hlinksldjump"/>
          </p:cNvPr>
          <p:cNvSpPr/>
          <p:nvPr/>
        </p:nvSpPr>
        <p:spPr>
          <a:xfrm>
            <a:off x="8286840" y="4324320"/>
            <a:ext cx="1809360" cy="399600"/>
          </a:xfrm>
          <a:prstGeom prst="roundRect">
            <a:avLst>
              <a:gd name="adj" fmla="val 14286"/>
            </a:avLst>
          </a:prstGeom>
          <a:solidFill>
            <a:srgbClr val="FFC24B"/>
          </a:solidFill>
          <a:ln w="9525">
            <a:solidFill>
              <a:srgbClr val="FFC2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80" b="1" u="none" strike="noStrike">
                <a:solidFill>
                  <a:srgbClr val="0B1020"/>
                </a:solidFill>
                <a:effectLst/>
                <a:uFillTx/>
                <a:latin typeface="Calibri"/>
                <a:ea typeface="Calibri"/>
              </a:rPr>
              <a:t>Choisir Premium</a:t>
            </a:r>
            <a:endParaRPr lang="fr-BE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offers-to-error-slot">
            <a:hlinkClick r:id="rId2" action="ppaction://hlinksldjump"/>
          </p:cNvPr>
          <p:cNvSpPr/>
          <p:nvPr/>
        </p:nvSpPr>
        <p:spPr>
          <a:xfrm>
            <a:off x="4095720" y="4324320"/>
            <a:ext cx="2381040" cy="399600"/>
          </a:xfrm>
          <a:prstGeom prst="roundRect">
            <a:avLst>
              <a:gd name="adj" fmla="val 14286"/>
            </a:avLst>
          </a:prstGeom>
          <a:solidFill>
            <a:srgbClr val="17213C"/>
          </a:solidFill>
          <a:ln w="9525">
            <a:solidFill>
              <a:srgbClr val="1721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8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Voir un créneau indisponible</a:t>
            </a:r>
            <a:endParaRPr lang="fr-BE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nav-3-home">
            <a:hlinkClick r:id="rId3" action="ppaction://hlinksldjump"/>
          </p:cNvPr>
          <p:cNvSpPr/>
          <p:nvPr/>
        </p:nvSpPr>
        <p:spPr>
          <a:xfrm>
            <a:off x="438120" y="6305400"/>
            <a:ext cx="1028520" cy="342720"/>
          </a:xfrm>
          <a:prstGeom prst="roundRect">
            <a:avLst>
              <a:gd name="adj" fmla="val 16667"/>
            </a:avLst>
          </a:prstGeom>
          <a:solidFill>
            <a:srgbClr val="17213C"/>
          </a:solidFill>
          <a:ln w="9525">
            <a:solidFill>
              <a:srgbClr val="1721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8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Accueil</a:t>
            </a:r>
            <a:endParaRPr lang="fr-BE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nav-3-prev">
            <a:hlinkClick r:id="rId4" action="ppaction://hlinksldjump"/>
          </p:cNvPr>
          <p:cNvSpPr/>
          <p:nvPr/>
        </p:nvSpPr>
        <p:spPr>
          <a:xfrm>
            <a:off x="1562040" y="6305400"/>
            <a:ext cx="1028520" cy="342720"/>
          </a:xfrm>
          <a:prstGeom prst="roundRect">
            <a:avLst>
              <a:gd name="adj" fmla="val 16667"/>
            </a:avLst>
          </a:prstGeom>
          <a:solidFill>
            <a:srgbClr val="17213C"/>
          </a:solidFill>
          <a:ln w="9525">
            <a:solidFill>
              <a:srgbClr val="1721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8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Retour</a:t>
            </a:r>
            <a:endParaRPr lang="fr-BE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nav-3-next">
            <a:hlinkClick r:id="rId5" action="ppaction://hlinksldjump"/>
          </p:cNvPr>
          <p:cNvSpPr/>
          <p:nvPr/>
        </p:nvSpPr>
        <p:spPr>
          <a:xfrm>
            <a:off x="10363320" y="6305400"/>
            <a:ext cx="1390320" cy="342720"/>
          </a:xfrm>
          <a:prstGeom prst="roundRect">
            <a:avLst>
              <a:gd name="adj" fmla="val 16667"/>
            </a:avLst>
          </a:prstGeom>
          <a:solidFill>
            <a:srgbClr val="13BFEA"/>
          </a:solidFill>
          <a:ln w="9525">
            <a:solidFill>
              <a:srgbClr val="13B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8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Suivant</a:t>
            </a:r>
            <a:endParaRPr lang="fr-BE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90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-title"/>
          <p:cNvSpPr/>
          <p:nvPr/>
        </p:nvSpPr>
        <p:spPr>
          <a:xfrm>
            <a:off x="438120" y="247680"/>
            <a:ext cx="809604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2320" b="1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Le détail de l’offre permet de choisir les options</a:t>
            </a:r>
            <a:endParaRPr lang="fr-BE" sz="2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slide-subtitle"/>
          <p:cNvSpPr/>
          <p:nvPr/>
        </p:nvSpPr>
        <p:spPr>
          <a:xfrm>
            <a:off x="457200" y="666720"/>
            <a:ext cx="80960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Les options influencent le devis et parfois le matériel</a:t>
            </a:r>
            <a:endParaRPr lang="fr-B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slide-count"/>
          <p:cNvSpPr/>
          <p:nvPr/>
        </p:nvSpPr>
        <p:spPr>
          <a:xfrm>
            <a:off x="11125080" y="343080"/>
            <a:ext cx="6663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13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4/16</a:t>
            </a:r>
            <a:endParaRPr lang="fr-BE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op-rule"/>
          <p:cNvSpPr/>
          <p:nvPr/>
        </p:nvSpPr>
        <p:spPr>
          <a:xfrm>
            <a:off x="438120" y="1028520"/>
            <a:ext cx="11315520" cy="360"/>
          </a:xfrm>
          <a:prstGeom prst="line">
            <a:avLst/>
          </a:prstGeom>
          <a:ln w="9525">
            <a:solidFill>
              <a:srgbClr val="2B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B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browser-frame"/>
          <p:cNvSpPr/>
          <p:nvPr/>
        </p:nvSpPr>
        <p:spPr>
          <a:xfrm>
            <a:off x="438120" y="1181160"/>
            <a:ext cx="11315520" cy="4838400"/>
          </a:xfrm>
          <a:prstGeom prst="roundRect">
            <a:avLst>
              <a:gd name="adj" fmla="val 1575"/>
            </a:avLst>
          </a:prstGeom>
          <a:solidFill>
            <a:srgbClr val="F8FAFC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browser-top"/>
          <p:cNvSpPr/>
          <p:nvPr/>
        </p:nvSpPr>
        <p:spPr>
          <a:xfrm>
            <a:off x="438120" y="1181160"/>
            <a:ext cx="11315520" cy="495000"/>
          </a:xfrm>
          <a:prstGeom prst="roundRect">
            <a:avLst>
              <a:gd name="adj" fmla="val 15385"/>
            </a:avLst>
          </a:prstGeom>
          <a:solidFill>
            <a:srgbClr val="EAF0F7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ab-accueil"/>
          <p:cNvSpPr/>
          <p:nvPr/>
        </p:nvSpPr>
        <p:spPr>
          <a:xfrm>
            <a:off x="666720" y="1305000"/>
            <a:ext cx="1199880" cy="2664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980" b="1" u="none" strike="noStrike">
                <a:solidFill>
                  <a:srgbClr val="25324B"/>
                </a:solidFill>
                <a:effectLst/>
                <a:uFillTx/>
                <a:latin typeface="Calibri"/>
                <a:ea typeface="Calibri"/>
              </a:rPr>
              <a:t>Accueil</a:t>
            </a:r>
            <a:endParaRPr lang="fr-BE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ab-offres"/>
          <p:cNvSpPr/>
          <p:nvPr/>
        </p:nvSpPr>
        <p:spPr>
          <a:xfrm>
            <a:off x="1962000" y="1305000"/>
            <a:ext cx="1199880" cy="266400"/>
          </a:xfrm>
          <a:prstGeom prst="roundRect">
            <a:avLst>
              <a:gd name="adj" fmla="val 21429"/>
            </a:avLst>
          </a:prstGeom>
          <a:solidFill>
            <a:srgbClr val="090E1E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98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Offres</a:t>
            </a:r>
            <a:endParaRPr lang="fr-BE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ab-djs"/>
          <p:cNvSpPr/>
          <p:nvPr/>
        </p:nvSpPr>
        <p:spPr>
          <a:xfrm>
            <a:off x="3257640" y="1305000"/>
            <a:ext cx="1199880" cy="2664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980" b="1" u="none" strike="noStrike">
                <a:solidFill>
                  <a:srgbClr val="25324B"/>
                </a:solidFill>
                <a:effectLst/>
                <a:uFillTx/>
                <a:latin typeface="Calibri"/>
                <a:ea typeface="Calibri"/>
              </a:rPr>
              <a:t>DJs</a:t>
            </a:r>
            <a:endParaRPr lang="fr-BE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ab-réservation"/>
          <p:cNvSpPr/>
          <p:nvPr/>
        </p:nvSpPr>
        <p:spPr>
          <a:xfrm>
            <a:off x="4552920" y="1305000"/>
            <a:ext cx="1199880" cy="2664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980" b="1" u="none" strike="noStrike">
                <a:solidFill>
                  <a:srgbClr val="25324B"/>
                </a:solidFill>
                <a:effectLst/>
                <a:uFillTx/>
                <a:latin typeface="Calibri"/>
                <a:ea typeface="Calibri"/>
              </a:rPr>
              <a:t>Réservation</a:t>
            </a:r>
            <a:endParaRPr lang="fr-BE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ab-profil"/>
          <p:cNvSpPr/>
          <p:nvPr/>
        </p:nvSpPr>
        <p:spPr>
          <a:xfrm>
            <a:off x="5848200" y="1305000"/>
            <a:ext cx="1199880" cy="2664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980" b="1" u="none" strike="noStrike">
                <a:solidFill>
                  <a:srgbClr val="25324B"/>
                </a:solidFill>
                <a:effectLst/>
                <a:uFillTx/>
                <a:latin typeface="Calibri"/>
                <a:ea typeface="Calibri"/>
              </a:rPr>
              <a:t>Profil</a:t>
            </a:r>
            <a:endParaRPr lang="fr-BE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offer-title"/>
          <p:cNvSpPr/>
          <p:nvPr/>
        </p:nvSpPr>
        <p:spPr>
          <a:xfrm>
            <a:off x="838080" y="1952640"/>
            <a:ext cx="380952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225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Formule Premium</a:t>
            </a:r>
            <a:endParaRPr lang="fr-BE" sz="2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check-270"/>
          <p:cNvSpPr/>
          <p:nvPr/>
        </p:nvSpPr>
        <p:spPr>
          <a:xfrm>
            <a:off x="857160" y="2571840"/>
            <a:ext cx="400032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00" b="0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✓ DJ 6h</a:t>
            </a:r>
            <a:endParaRPr lang="fr-B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check-300"/>
          <p:cNvSpPr/>
          <p:nvPr/>
        </p:nvSpPr>
        <p:spPr>
          <a:xfrm>
            <a:off x="857160" y="2857680"/>
            <a:ext cx="400032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00" b="0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✓ Rendez-vous préparatoire</a:t>
            </a:r>
            <a:endParaRPr lang="fr-B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check-330"/>
          <p:cNvSpPr/>
          <p:nvPr/>
        </p:nvSpPr>
        <p:spPr>
          <a:xfrm>
            <a:off x="857160" y="3143160"/>
            <a:ext cx="400032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00" b="0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✓ Éclairage de scène</a:t>
            </a:r>
            <a:endParaRPr lang="fr-B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check-360"/>
          <p:cNvSpPr/>
          <p:nvPr/>
        </p:nvSpPr>
        <p:spPr>
          <a:xfrm>
            <a:off x="857160" y="3429000"/>
            <a:ext cx="400032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00" b="0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✓ Contrat personnalisé</a:t>
            </a:r>
            <a:endParaRPr lang="fr-B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check-390"/>
          <p:cNvSpPr/>
          <p:nvPr/>
        </p:nvSpPr>
        <p:spPr>
          <a:xfrm>
            <a:off x="857160" y="3714840"/>
            <a:ext cx="400032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00" b="0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✓ Acompte pour bloquer la date</a:t>
            </a:r>
            <a:endParaRPr lang="fr-B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option-sound"/>
          <p:cNvSpPr/>
          <p:nvPr/>
        </p:nvSpPr>
        <p:spPr>
          <a:xfrm>
            <a:off x="5572080" y="2286000"/>
            <a:ext cx="2476080" cy="112356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option-sound-accent"/>
          <p:cNvSpPr/>
          <p:nvPr/>
        </p:nvSpPr>
        <p:spPr>
          <a:xfrm>
            <a:off x="5572080" y="2286000"/>
            <a:ext cx="75960" cy="1123560"/>
          </a:xfrm>
          <a:prstGeom prst="rect">
            <a:avLst/>
          </a:prstGeom>
          <a:solidFill>
            <a:srgbClr val="13BFEA"/>
          </a:solidFill>
          <a:ln w="0">
            <a:solidFill>
              <a:srgbClr val="13BFEA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option-sound-title"/>
          <p:cNvSpPr/>
          <p:nvPr/>
        </p:nvSpPr>
        <p:spPr>
          <a:xfrm>
            <a:off x="5781600" y="2438280"/>
            <a:ext cx="21333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5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Option sonorisation +</a:t>
            </a:r>
            <a:endParaRPr lang="fr-B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option-sound-body"/>
          <p:cNvSpPr/>
          <p:nvPr/>
        </p:nvSpPr>
        <p:spPr>
          <a:xfrm>
            <a:off x="5781600" y="2781360"/>
            <a:ext cx="213336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13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Matériel supplémentaire : +120 €</a:t>
            </a:r>
            <a:endParaRPr lang="fr-BE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option-light"/>
          <p:cNvSpPr/>
          <p:nvPr/>
        </p:nvSpPr>
        <p:spPr>
          <a:xfrm>
            <a:off x="8267760" y="2286000"/>
            <a:ext cx="2476080" cy="112356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option-light-accent"/>
          <p:cNvSpPr/>
          <p:nvPr/>
        </p:nvSpPr>
        <p:spPr>
          <a:xfrm>
            <a:off x="8267760" y="2286000"/>
            <a:ext cx="75960" cy="1123560"/>
          </a:xfrm>
          <a:prstGeom prst="rect">
            <a:avLst/>
          </a:prstGeom>
          <a:solidFill>
            <a:srgbClr val="FF2D8B"/>
          </a:solidFill>
          <a:ln w="0">
            <a:solidFill>
              <a:srgbClr val="FF2D8B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B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option-light-title"/>
          <p:cNvSpPr/>
          <p:nvPr/>
        </p:nvSpPr>
        <p:spPr>
          <a:xfrm>
            <a:off x="8477280" y="2438280"/>
            <a:ext cx="21333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5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Option éclairage</a:t>
            </a:r>
            <a:endParaRPr lang="fr-B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option-light-body"/>
          <p:cNvSpPr/>
          <p:nvPr/>
        </p:nvSpPr>
        <p:spPr>
          <a:xfrm>
            <a:off x="8477280" y="2781360"/>
            <a:ext cx="213336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13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Jeux de lumières : +90 €</a:t>
            </a:r>
            <a:endParaRPr lang="fr-BE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option-travel"/>
          <p:cNvSpPr/>
          <p:nvPr/>
        </p:nvSpPr>
        <p:spPr>
          <a:xfrm>
            <a:off x="6934320" y="3657600"/>
            <a:ext cx="2476080" cy="112356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option-travel-accent"/>
          <p:cNvSpPr/>
          <p:nvPr/>
        </p:nvSpPr>
        <p:spPr>
          <a:xfrm>
            <a:off x="6934320" y="3657600"/>
            <a:ext cx="75960" cy="1123560"/>
          </a:xfrm>
          <a:prstGeom prst="rect">
            <a:avLst/>
          </a:prstGeom>
          <a:solidFill>
            <a:srgbClr val="FFC24B"/>
          </a:solidFill>
          <a:ln w="0">
            <a:solidFill>
              <a:srgbClr val="FFC24B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option-travel-title"/>
          <p:cNvSpPr/>
          <p:nvPr/>
        </p:nvSpPr>
        <p:spPr>
          <a:xfrm>
            <a:off x="7143840" y="3809880"/>
            <a:ext cx="21333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5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Déplacement</a:t>
            </a:r>
            <a:endParaRPr lang="fr-B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option-travel-body"/>
          <p:cNvSpPr/>
          <p:nvPr/>
        </p:nvSpPr>
        <p:spPr>
          <a:xfrm>
            <a:off x="7143840" y="4152960"/>
            <a:ext cx="213336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13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Calcul selon distance et parking</a:t>
            </a:r>
            <a:endParaRPr lang="fr-BE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offer-to-slot">
            <a:hlinkClick r:id="rId1" action="ppaction://hlinksldjump"/>
          </p:cNvPr>
          <p:cNvSpPr/>
          <p:nvPr/>
        </p:nvSpPr>
        <p:spPr>
          <a:xfrm>
            <a:off x="838080" y="5095800"/>
            <a:ext cx="2476080" cy="399600"/>
          </a:xfrm>
          <a:prstGeom prst="roundRect">
            <a:avLst>
              <a:gd name="adj" fmla="val 14286"/>
            </a:avLst>
          </a:prstGeom>
          <a:solidFill>
            <a:srgbClr val="13BFEA"/>
          </a:solidFill>
          <a:ln w="9525">
            <a:solidFill>
              <a:srgbClr val="13B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8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Choisir un DJ disponible</a:t>
            </a:r>
            <a:endParaRPr lang="fr-BE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nav-4-home">
            <a:hlinkClick r:id="rId2" action="ppaction://hlinksldjump"/>
          </p:cNvPr>
          <p:cNvSpPr/>
          <p:nvPr/>
        </p:nvSpPr>
        <p:spPr>
          <a:xfrm>
            <a:off x="438120" y="6305400"/>
            <a:ext cx="1028520" cy="342720"/>
          </a:xfrm>
          <a:prstGeom prst="roundRect">
            <a:avLst>
              <a:gd name="adj" fmla="val 16667"/>
            </a:avLst>
          </a:prstGeom>
          <a:solidFill>
            <a:srgbClr val="17213C"/>
          </a:solidFill>
          <a:ln w="9525">
            <a:solidFill>
              <a:srgbClr val="1721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8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Accueil</a:t>
            </a:r>
            <a:endParaRPr lang="fr-BE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nav-4-prev">
            <a:hlinkClick r:id="rId3" action="ppaction://hlinksldjump"/>
          </p:cNvPr>
          <p:cNvSpPr/>
          <p:nvPr/>
        </p:nvSpPr>
        <p:spPr>
          <a:xfrm>
            <a:off x="1562040" y="6305400"/>
            <a:ext cx="1028520" cy="342720"/>
          </a:xfrm>
          <a:prstGeom prst="roundRect">
            <a:avLst>
              <a:gd name="adj" fmla="val 16667"/>
            </a:avLst>
          </a:prstGeom>
          <a:solidFill>
            <a:srgbClr val="17213C"/>
          </a:solidFill>
          <a:ln w="9525">
            <a:solidFill>
              <a:srgbClr val="1721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8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Retour</a:t>
            </a:r>
            <a:endParaRPr lang="fr-BE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nav-4-next">
            <a:hlinkClick r:id="rId4" action="ppaction://hlinksldjump"/>
          </p:cNvPr>
          <p:cNvSpPr/>
          <p:nvPr/>
        </p:nvSpPr>
        <p:spPr>
          <a:xfrm>
            <a:off x="10363320" y="6305400"/>
            <a:ext cx="1390320" cy="342720"/>
          </a:xfrm>
          <a:prstGeom prst="roundRect">
            <a:avLst>
              <a:gd name="adj" fmla="val 16667"/>
            </a:avLst>
          </a:prstGeom>
          <a:solidFill>
            <a:srgbClr val="13BFEA"/>
          </a:solidFill>
          <a:ln w="9525">
            <a:solidFill>
              <a:srgbClr val="13B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8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Suivant</a:t>
            </a:r>
            <a:endParaRPr lang="fr-BE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90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lide-title"/>
          <p:cNvSpPr/>
          <p:nvPr/>
        </p:nvSpPr>
        <p:spPr>
          <a:xfrm>
            <a:off x="438120" y="247680"/>
            <a:ext cx="809604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2320" b="1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Le client choisit un DJ et un créneau disponible</a:t>
            </a:r>
            <a:endParaRPr lang="fr-BE" sz="2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slide-subtitle"/>
          <p:cNvSpPr/>
          <p:nvPr/>
        </p:nvSpPr>
        <p:spPr>
          <a:xfrm>
            <a:off x="457200" y="666720"/>
            <a:ext cx="80960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Un créneau confirmé sera bloqué pour les autres clients</a:t>
            </a:r>
            <a:endParaRPr lang="fr-B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slide-count"/>
          <p:cNvSpPr/>
          <p:nvPr/>
        </p:nvSpPr>
        <p:spPr>
          <a:xfrm>
            <a:off x="11125080" y="343080"/>
            <a:ext cx="6663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13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5/16</a:t>
            </a:r>
            <a:endParaRPr lang="fr-BE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op-rule"/>
          <p:cNvSpPr/>
          <p:nvPr/>
        </p:nvSpPr>
        <p:spPr>
          <a:xfrm>
            <a:off x="438120" y="1028520"/>
            <a:ext cx="11315520" cy="360"/>
          </a:xfrm>
          <a:prstGeom prst="line">
            <a:avLst/>
          </a:prstGeom>
          <a:ln w="9525">
            <a:solidFill>
              <a:srgbClr val="2B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B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browser-frame"/>
          <p:cNvSpPr/>
          <p:nvPr/>
        </p:nvSpPr>
        <p:spPr>
          <a:xfrm>
            <a:off x="438120" y="1181160"/>
            <a:ext cx="11315520" cy="4838400"/>
          </a:xfrm>
          <a:prstGeom prst="roundRect">
            <a:avLst>
              <a:gd name="adj" fmla="val 1575"/>
            </a:avLst>
          </a:prstGeom>
          <a:solidFill>
            <a:srgbClr val="F8FAFC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browser-top"/>
          <p:cNvSpPr/>
          <p:nvPr/>
        </p:nvSpPr>
        <p:spPr>
          <a:xfrm>
            <a:off x="438120" y="1181160"/>
            <a:ext cx="11315520" cy="495000"/>
          </a:xfrm>
          <a:prstGeom prst="roundRect">
            <a:avLst>
              <a:gd name="adj" fmla="val 15385"/>
            </a:avLst>
          </a:prstGeom>
          <a:solidFill>
            <a:srgbClr val="EAF0F7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ab-accueil"/>
          <p:cNvSpPr/>
          <p:nvPr/>
        </p:nvSpPr>
        <p:spPr>
          <a:xfrm>
            <a:off x="666720" y="1305000"/>
            <a:ext cx="1199880" cy="2664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980" b="1" u="none" strike="noStrike">
                <a:solidFill>
                  <a:srgbClr val="25324B"/>
                </a:solidFill>
                <a:effectLst/>
                <a:uFillTx/>
                <a:latin typeface="Calibri"/>
                <a:ea typeface="Calibri"/>
              </a:rPr>
              <a:t>Accueil</a:t>
            </a:r>
            <a:endParaRPr lang="fr-BE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ab-offres"/>
          <p:cNvSpPr/>
          <p:nvPr/>
        </p:nvSpPr>
        <p:spPr>
          <a:xfrm>
            <a:off x="1962000" y="1305000"/>
            <a:ext cx="1199880" cy="2664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980" b="1" u="none" strike="noStrike">
                <a:solidFill>
                  <a:srgbClr val="25324B"/>
                </a:solidFill>
                <a:effectLst/>
                <a:uFillTx/>
                <a:latin typeface="Calibri"/>
                <a:ea typeface="Calibri"/>
              </a:rPr>
              <a:t>Offres</a:t>
            </a:r>
            <a:endParaRPr lang="fr-BE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ab-djs"/>
          <p:cNvSpPr/>
          <p:nvPr/>
        </p:nvSpPr>
        <p:spPr>
          <a:xfrm>
            <a:off x="3257640" y="1305000"/>
            <a:ext cx="1199880" cy="266400"/>
          </a:xfrm>
          <a:prstGeom prst="roundRect">
            <a:avLst>
              <a:gd name="adj" fmla="val 21429"/>
            </a:avLst>
          </a:prstGeom>
          <a:solidFill>
            <a:srgbClr val="090E1E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98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DJs</a:t>
            </a:r>
            <a:endParaRPr lang="fr-BE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ab-réservation"/>
          <p:cNvSpPr/>
          <p:nvPr/>
        </p:nvSpPr>
        <p:spPr>
          <a:xfrm>
            <a:off x="4552920" y="1305000"/>
            <a:ext cx="1199880" cy="2664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980" b="1" u="none" strike="noStrike">
                <a:solidFill>
                  <a:srgbClr val="25324B"/>
                </a:solidFill>
                <a:effectLst/>
                <a:uFillTx/>
                <a:latin typeface="Calibri"/>
                <a:ea typeface="Calibri"/>
              </a:rPr>
              <a:t>Réservation</a:t>
            </a:r>
            <a:endParaRPr lang="fr-BE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ab-profil"/>
          <p:cNvSpPr/>
          <p:nvPr/>
        </p:nvSpPr>
        <p:spPr>
          <a:xfrm>
            <a:off x="5848200" y="1305000"/>
            <a:ext cx="1199880" cy="2664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980" b="1" u="none" strike="noStrike">
                <a:solidFill>
                  <a:srgbClr val="25324B"/>
                </a:solidFill>
                <a:effectLst/>
                <a:uFillTx/>
                <a:latin typeface="Calibri"/>
                <a:ea typeface="Calibri"/>
              </a:rPr>
              <a:t>Profil</a:t>
            </a:r>
            <a:endParaRPr lang="fr-BE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dj-1"/>
          <p:cNvSpPr/>
          <p:nvPr/>
        </p:nvSpPr>
        <p:spPr>
          <a:xfrm>
            <a:off x="857160" y="2095560"/>
            <a:ext cx="3047760" cy="152352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dj-1-accent"/>
          <p:cNvSpPr/>
          <p:nvPr/>
        </p:nvSpPr>
        <p:spPr>
          <a:xfrm>
            <a:off x="857160" y="2095560"/>
            <a:ext cx="75960" cy="1523520"/>
          </a:xfrm>
          <a:prstGeom prst="rect">
            <a:avLst/>
          </a:prstGeom>
          <a:solidFill>
            <a:srgbClr val="13BFEA"/>
          </a:solidFill>
          <a:ln w="0">
            <a:solidFill>
              <a:srgbClr val="13BFEA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dj-1-title"/>
          <p:cNvSpPr/>
          <p:nvPr/>
        </p:nvSpPr>
        <p:spPr>
          <a:xfrm>
            <a:off x="1066680" y="2247840"/>
            <a:ext cx="27046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5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DJ Lucas</a:t>
            </a:r>
            <a:endParaRPr lang="fr-B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dj-1-body"/>
          <p:cNvSpPr/>
          <p:nvPr/>
        </p:nvSpPr>
        <p:spPr>
          <a:xfrm>
            <a:off x="1066680" y="2590920"/>
            <a:ext cx="27046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13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Disponible : 20/09/2026, 18h-02h</a:t>
            </a:r>
            <a:endParaRPr lang="fr-BE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13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Styles : afro, house, pop</a:t>
            </a:r>
            <a:endParaRPr lang="fr-BE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dj-2"/>
          <p:cNvSpPr/>
          <p:nvPr/>
        </p:nvSpPr>
        <p:spPr>
          <a:xfrm>
            <a:off x="4286160" y="2095560"/>
            <a:ext cx="3333240" cy="152352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dj-2-accent"/>
          <p:cNvSpPr/>
          <p:nvPr/>
        </p:nvSpPr>
        <p:spPr>
          <a:xfrm>
            <a:off x="4286160" y="2095560"/>
            <a:ext cx="75960" cy="1523520"/>
          </a:xfrm>
          <a:prstGeom prst="rect">
            <a:avLst/>
          </a:prstGeom>
          <a:solidFill>
            <a:srgbClr val="FF2D8B"/>
          </a:solidFill>
          <a:ln w="0">
            <a:solidFill>
              <a:srgbClr val="FF2D8B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B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dj-2-title"/>
          <p:cNvSpPr/>
          <p:nvPr/>
        </p:nvSpPr>
        <p:spPr>
          <a:xfrm>
            <a:off x="4495680" y="2247840"/>
            <a:ext cx="29905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5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DJ Sarah</a:t>
            </a:r>
            <a:endParaRPr lang="fr-B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dj-2-body"/>
          <p:cNvSpPr/>
          <p:nvPr/>
        </p:nvSpPr>
        <p:spPr>
          <a:xfrm>
            <a:off x="4495680" y="2590920"/>
            <a:ext cx="29905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13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Disponible : 27/09/2026, 19h-01h</a:t>
            </a:r>
            <a:endParaRPr lang="fr-BE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13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Styles : mariage, latino, années 2000</a:t>
            </a:r>
            <a:endParaRPr lang="fr-BE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dj-3"/>
          <p:cNvSpPr/>
          <p:nvPr/>
        </p:nvSpPr>
        <p:spPr>
          <a:xfrm>
            <a:off x="8001000" y="2095560"/>
            <a:ext cx="2761920" cy="152352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dj-3-accent"/>
          <p:cNvSpPr/>
          <p:nvPr/>
        </p:nvSpPr>
        <p:spPr>
          <a:xfrm>
            <a:off x="8001000" y="2095560"/>
            <a:ext cx="75960" cy="1523520"/>
          </a:xfrm>
          <a:prstGeom prst="rect">
            <a:avLst/>
          </a:prstGeom>
          <a:solidFill>
            <a:srgbClr val="EF4444"/>
          </a:solidFill>
          <a:ln w="0">
            <a:solidFill>
              <a:srgbClr val="EF444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B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dj-3-title"/>
          <p:cNvSpPr/>
          <p:nvPr/>
        </p:nvSpPr>
        <p:spPr>
          <a:xfrm>
            <a:off x="8210520" y="2247840"/>
            <a:ext cx="24188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5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DJ Mike</a:t>
            </a:r>
            <a:endParaRPr lang="fr-B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dj-3-body"/>
          <p:cNvSpPr/>
          <p:nvPr/>
        </p:nvSpPr>
        <p:spPr>
          <a:xfrm>
            <a:off x="8210520" y="2590920"/>
            <a:ext cx="24188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13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Indisponible : déjà réservé</a:t>
            </a:r>
            <a:endParaRPr lang="fr-BE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13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Le créneau n’est pas sélectionnable</a:t>
            </a:r>
            <a:endParaRPr lang="fr-BE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choose-lucas-slot">
            <a:hlinkClick r:id="rId1" action="ppaction://hlinksldjump"/>
          </p:cNvPr>
          <p:cNvSpPr/>
          <p:nvPr/>
        </p:nvSpPr>
        <p:spPr>
          <a:xfrm>
            <a:off x="1123920" y="3905280"/>
            <a:ext cx="2285640" cy="399600"/>
          </a:xfrm>
          <a:prstGeom prst="roundRect">
            <a:avLst>
              <a:gd name="adj" fmla="val 14286"/>
            </a:avLst>
          </a:prstGeom>
          <a:solidFill>
            <a:srgbClr val="13BFEA"/>
          </a:solidFill>
          <a:ln w="9525">
            <a:solidFill>
              <a:srgbClr val="13B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8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Sélectionner ce créneau</a:t>
            </a:r>
            <a:endParaRPr lang="fr-BE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choose-unavailable-slot">
            <a:hlinkClick r:id="rId2" action="ppaction://hlinksldjump"/>
          </p:cNvPr>
          <p:cNvSpPr/>
          <p:nvPr/>
        </p:nvSpPr>
        <p:spPr>
          <a:xfrm>
            <a:off x="8381880" y="3905280"/>
            <a:ext cx="1904760" cy="399600"/>
          </a:xfrm>
          <a:prstGeom prst="roundRect">
            <a:avLst>
              <a:gd name="adj" fmla="val 14286"/>
            </a:avLst>
          </a:prstGeom>
          <a:solidFill>
            <a:srgbClr val="17213C"/>
          </a:solidFill>
          <a:ln w="9525">
            <a:solidFill>
              <a:srgbClr val="1721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8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Tester indisponible</a:t>
            </a:r>
            <a:endParaRPr lang="fr-BE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nav-5-home">
            <a:hlinkClick r:id="rId3" action="ppaction://hlinksldjump"/>
          </p:cNvPr>
          <p:cNvSpPr/>
          <p:nvPr/>
        </p:nvSpPr>
        <p:spPr>
          <a:xfrm>
            <a:off x="438120" y="6305400"/>
            <a:ext cx="1028520" cy="342720"/>
          </a:xfrm>
          <a:prstGeom prst="roundRect">
            <a:avLst>
              <a:gd name="adj" fmla="val 16667"/>
            </a:avLst>
          </a:prstGeom>
          <a:solidFill>
            <a:srgbClr val="17213C"/>
          </a:solidFill>
          <a:ln w="9525">
            <a:solidFill>
              <a:srgbClr val="1721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8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Accueil</a:t>
            </a:r>
            <a:endParaRPr lang="fr-BE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nav-5-prev">
            <a:hlinkClick r:id="rId4" action="ppaction://hlinksldjump"/>
          </p:cNvPr>
          <p:cNvSpPr/>
          <p:nvPr/>
        </p:nvSpPr>
        <p:spPr>
          <a:xfrm>
            <a:off x="1562040" y="6305400"/>
            <a:ext cx="1028520" cy="342720"/>
          </a:xfrm>
          <a:prstGeom prst="roundRect">
            <a:avLst>
              <a:gd name="adj" fmla="val 16667"/>
            </a:avLst>
          </a:prstGeom>
          <a:solidFill>
            <a:srgbClr val="17213C"/>
          </a:solidFill>
          <a:ln w="9525">
            <a:solidFill>
              <a:srgbClr val="1721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8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Retour</a:t>
            </a:r>
            <a:endParaRPr lang="fr-BE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nav-5-next">
            <a:hlinkClick r:id="rId5" action="ppaction://hlinksldjump"/>
          </p:cNvPr>
          <p:cNvSpPr/>
          <p:nvPr/>
        </p:nvSpPr>
        <p:spPr>
          <a:xfrm>
            <a:off x="10363320" y="6305400"/>
            <a:ext cx="1390320" cy="342720"/>
          </a:xfrm>
          <a:prstGeom prst="roundRect">
            <a:avLst>
              <a:gd name="adj" fmla="val 16667"/>
            </a:avLst>
          </a:prstGeom>
          <a:solidFill>
            <a:srgbClr val="13BFEA"/>
          </a:solidFill>
          <a:ln w="9525">
            <a:solidFill>
              <a:srgbClr val="13B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8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Suivant</a:t>
            </a:r>
            <a:endParaRPr lang="fr-BE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90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lide-title"/>
          <p:cNvSpPr/>
          <p:nvPr/>
        </p:nvSpPr>
        <p:spPr>
          <a:xfrm>
            <a:off x="438120" y="247680"/>
            <a:ext cx="809604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2320" b="1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La demande de devis collecte les informations métier</a:t>
            </a:r>
            <a:endParaRPr lang="fr-BE" sz="2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slide-subtitle"/>
          <p:cNvSpPr/>
          <p:nvPr/>
        </p:nvSpPr>
        <p:spPr>
          <a:xfrm>
            <a:off x="457200" y="666720"/>
            <a:ext cx="80960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Le formulaire doit être complet pour générer un devis fiable</a:t>
            </a:r>
            <a:endParaRPr lang="fr-B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slide-count"/>
          <p:cNvSpPr/>
          <p:nvPr/>
        </p:nvSpPr>
        <p:spPr>
          <a:xfrm>
            <a:off x="11125080" y="343080"/>
            <a:ext cx="6663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13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6/16</a:t>
            </a:r>
            <a:endParaRPr lang="fr-BE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op-rule"/>
          <p:cNvSpPr/>
          <p:nvPr/>
        </p:nvSpPr>
        <p:spPr>
          <a:xfrm>
            <a:off x="438120" y="1028520"/>
            <a:ext cx="11315520" cy="360"/>
          </a:xfrm>
          <a:prstGeom prst="line">
            <a:avLst/>
          </a:prstGeom>
          <a:ln w="9525">
            <a:solidFill>
              <a:srgbClr val="2B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B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browser-frame"/>
          <p:cNvSpPr/>
          <p:nvPr/>
        </p:nvSpPr>
        <p:spPr>
          <a:xfrm>
            <a:off x="438120" y="1181160"/>
            <a:ext cx="11315520" cy="4838400"/>
          </a:xfrm>
          <a:prstGeom prst="roundRect">
            <a:avLst>
              <a:gd name="adj" fmla="val 1575"/>
            </a:avLst>
          </a:prstGeom>
          <a:solidFill>
            <a:srgbClr val="F8FAFC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browser-top"/>
          <p:cNvSpPr/>
          <p:nvPr/>
        </p:nvSpPr>
        <p:spPr>
          <a:xfrm>
            <a:off x="438120" y="1181160"/>
            <a:ext cx="11315520" cy="495000"/>
          </a:xfrm>
          <a:prstGeom prst="roundRect">
            <a:avLst>
              <a:gd name="adj" fmla="val 15385"/>
            </a:avLst>
          </a:prstGeom>
          <a:solidFill>
            <a:srgbClr val="EAF0F7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ab-accueil"/>
          <p:cNvSpPr/>
          <p:nvPr/>
        </p:nvSpPr>
        <p:spPr>
          <a:xfrm>
            <a:off x="666720" y="1305000"/>
            <a:ext cx="1199880" cy="2664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980" b="1" u="none" strike="noStrike">
                <a:solidFill>
                  <a:srgbClr val="25324B"/>
                </a:solidFill>
                <a:effectLst/>
                <a:uFillTx/>
                <a:latin typeface="Calibri"/>
                <a:ea typeface="Calibri"/>
              </a:rPr>
              <a:t>Accueil</a:t>
            </a:r>
            <a:endParaRPr lang="fr-BE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ab-offres"/>
          <p:cNvSpPr/>
          <p:nvPr/>
        </p:nvSpPr>
        <p:spPr>
          <a:xfrm>
            <a:off x="1962000" y="1305000"/>
            <a:ext cx="1199880" cy="2664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980" b="1" u="none" strike="noStrike">
                <a:solidFill>
                  <a:srgbClr val="25324B"/>
                </a:solidFill>
                <a:effectLst/>
                <a:uFillTx/>
                <a:latin typeface="Calibri"/>
                <a:ea typeface="Calibri"/>
              </a:rPr>
              <a:t>Offres</a:t>
            </a:r>
            <a:endParaRPr lang="fr-BE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ab-djs"/>
          <p:cNvSpPr/>
          <p:nvPr/>
        </p:nvSpPr>
        <p:spPr>
          <a:xfrm>
            <a:off x="3257640" y="1305000"/>
            <a:ext cx="1199880" cy="2664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980" b="1" u="none" strike="noStrike">
                <a:solidFill>
                  <a:srgbClr val="25324B"/>
                </a:solidFill>
                <a:effectLst/>
                <a:uFillTx/>
                <a:latin typeface="Calibri"/>
                <a:ea typeface="Calibri"/>
              </a:rPr>
              <a:t>DJs</a:t>
            </a:r>
            <a:endParaRPr lang="fr-BE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ab-réservation"/>
          <p:cNvSpPr/>
          <p:nvPr/>
        </p:nvSpPr>
        <p:spPr>
          <a:xfrm>
            <a:off x="4552920" y="1305000"/>
            <a:ext cx="1199880" cy="266400"/>
          </a:xfrm>
          <a:prstGeom prst="roundRect">
            <a:avLst>
              <a:gd name="adj" fmla="val 21429"/>
            </a:avLst>
          </a:prstGeom>
          <a:solidFill>
            <a:srgbClr val="090E1E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98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Réservation</a:t>
            </a:r>
            <a:endParaRPr lang="fr-BE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ab-profil"/>
          <p:cNvSpPr/>
          <p:nvPr/>
        </p:nvSpPr>
        <p:spPr>
          <a:xfrm>
            <a:off x="5848200" y="1305000"/>
            <a:ext cx="1199880" cy="2664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980" b="1" u="none" strike="noStrike">
                <a:solidFill>
                  <a:srgbClr val="25324B"/>
                </a:solidFill>
                <a:effectLst/>
                <a:uFillTx/>
                <a:latin typeface="Calibri"/>
                <a:ea typeface="Calibri"/>
              </a:rPr>
              <a:t>Profil</a:t>
            </a:r>
            <a:endParaRPr lang="fr-BE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event-type-label"/>
          <p:cNvSpPr/>
          <p:nvPr/>
        </p:nvSpPr>
        <p:spPr>
          <a:xfrm>
            <a:off x="857160" y="1952640"/>
            <a:ext cx="24760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050" b="1" u="none" strike="noStrik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Type d’événement</a:t>
            </a:r>
            <a:endParaRPr lang="fr-BE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event-type"/>
          <p:cNvSpPr/>
          <p:nvPr/>
        </p:nvSpPr>
        <p:spPr>
          <a:xfrm>
            <a:off x="857160" y="2181240"/>
            <a:ext cx="2476080" cy="36144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130" b="0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Mariage</a:t>
            </a:r>
            <a:endParaRPr lang="fr-BE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event-date-label"/>
          <p:cNvSpPr/>
          <p:nvPr/>
        </p:nvSpPr>
        <p:spPr>
          <a:xfrm>
            <a:off x="3619440" y="1952640"/>
            <a:ext cx="209520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050" b="1" u="none" strike="noStrik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Date</a:t>
            </a:r>
            <a:endParaRPr lang="fr-BE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event-date"/>
          <p:cNvSpPr/>
          <p:nvPr/>
        </p:nvSpPr>
        <p:spPr>
          <a:xfrm>
            <a:off x="3619440" y="2181240"/>
            <a:ext cx="2095200" cy="36144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130" b="0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20/09/2026</a:t>
            </a:r>
            <a:endParaRPr lang="fr-BE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event-place-label"/>
          <p:cNvSpPr/>
          <p:nvPr/>
        </p:nvSpPr>
        <p:spPr>
          <a:xfrm>
            <a:off x="6000840" y="1952640"/>
            <a:ext cx="24760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050" b="1" u="none" strike="noStrik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Lieu</a:t>
            </a:r>
            <a:endParaRPr lang="fr-BE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event-place"/>
          <p:cNvSpPr/>
          <p:nvPr/>
        </p:nvSpPr>
        <p:spPr>
          <a:xfrm>
            <a:off x="6000840" y="2181240"/>
            <a:ext cx="2476080" cy="36144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130" b="0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Bruxelles</a:t>
            </a:r>
            <a:endParaRPr lang="fr-BE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event-guests-label"/>
          <p:cNvSpPr/>
          <p:nvPr/>
        </p:nvSpPr>
        <p:spPr>
          <a:xfrm>
            <a:off x="8763120" y="1952640"/>
            <a:ext cx="171432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050" b="1" u="none" strike="noStrik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Nombre d’invités</a:t>
            </a:r>
            <a:endParaRPr lang="fr-BE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event-guests"/>
          <p:cNvSpPr/>
          <p:nvPr/>
        </p:nvSpPr>
        <p:spPr>
          <a:xfrm>
            <a:off x="8763120" y="2181240"/>
            <a:ext cx="1714320" cy="36144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130" b="0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120</a:t>
            </a:r>
            <a:endParaRPr lang="fr-BE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event-duration-label"/>
          <p:cNvSpPr/>
          <p:nvPr/>
        </p:nvSpPr>
        <p:spPr>
          <a:xfrm>
            <a:off x="857160" y="2905200"/>
            <a:ext cx="209520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050" b="1" u="none" strike="noStrik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Durée prévue</a:t>
            </a:r>
            <a:endParaRPr lang="fr-BE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event-duration"/>
          <p:cNvSpPr/>
          <p:nvPr/>
        </p:nvSpPr>
        <p:spPr>
          <a:xfrm>
            <a:off x="857160" y="3133800"/>
            <a:ext cx="2095200" cy="36144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130" b="0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6h</a:t>
            </a:r>
            <a:endParaRPr lang="fr-BE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event-parking-label"/>
          <p:cNvSpPr/>
          <p:nvPr/>
        </p:nvSpPr>
        <p:spPr>
          <a:xfrm>
            <a:off x="3238560" y="2905200"/>
            <a:ext cx="209520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050" b="1" u="none" strike="noStrik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Parking</a:t>
            </a:r>
            <a:endParaRPr lang="fr-BE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event-parking"/>
          <p:cNvSpPr/>
          <p:nvPr/>
        </p:nvSpPr>
        <p:spPr>
          <a:xfrm>
            <a:off x="3238560" y="3133800"/>
            <a:ext cx="2095200" cy="36144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130" b="0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Oui</a:t>
            </a:r>
            <a:endParaRPr lang="fr-BE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event-style-label"/>
          <p:cNvSpPr/>
          <p:nvPr/>
        </p:nvSpPr>
        <p:spPr>
          <a:xfrm>
            <a:off x="5619600" y="2905200"/>
            <a:ext cx="285732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050" b="1" u="none" strike="noStrik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Styles musicaux</a:t>
            </a:r>
            <a:endParaRPr lang="fr-BE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event-style"/>
          <p:cNvSpPr/>
          <p:nvPr/>
        </p:nvSpPr>
        <p:spPr>
          <a:xfrm>
            <a:off x="5619600" y="3133800"/>
            <a:ext cx="2857320" cy="36144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130" b="0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Afro, house, pop</a:t>
            </a:r>
            <a:endParaRPr lang="fr-BE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event-comment-label"/>
          <p:cNvSpPr/>
          <p:nvPr/>
        </p:nvSpPr>
        <p:spPr>
          <a:xfrm>
            <a:off x="857160" y="3857760"/>
            <a:ext cx="761976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050" b="1" u="none" strike="noStrik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Commentaire</a:t>
            </a:r>
            <a:endParaRPr lang="fr-BE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event-comment"/>
          <p:cNvSpPr/>
          <p:nvPr/>
        </p:nvSpPr>
        <p:spPr>
          <a:xfrm>
            <a:off x="857160" y="4086360"/>
            <a:ext cx="7619760" cy="36144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130" b="0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Prévoir ouverture de bal.</a:t>
            </a:r>
            <a:endParaRPr lang="fr-BE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quote-submit-ok">
            <a:hlinkClick r:id="rId1" action="ppaction://hlinksldjump"/>
          </p:cNvPr>
          <p:cNvSpPr/>
          <p:nvPr/>
        </p:nvSpPr>
        <p:spPr>
          <a:xfrm>
            <a:off x="8744040" y="4476600"/>
            <a:ext cx="1809360" cy="399600"/>
          </a:xfrm>
          <a:prstGeom prst="roundRect">
            <a:avLst>
              <a:gd name="adj" fmla="val 14286"/>
            </a:avLst>
          </a:prstGeom>
          <a:solidFill>
            <a:srgbClr val="13BFEA"/>
          </a:solidFill>
          <a:ln w="9525">
            <a:solidFill>
              <a:srgbClr val="13B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8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Générer le devis</a:t>
            </a:r>
            <a:endParaRPr lang="fr-BE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quote-submit-error">
            <a:hlinkClick r:id="rId2" action="ppaction://hlinksldjump"/>
          </p:cNvPr>
          <p:cNvSpPr/>
          <p:nvPr/>
        </p:nvSpPr>
        <p:spPr>
          <a:xfrm>
            <a:off x="6477120" y="4476600"/>
            <a:ext cx="2095200" cy="399600"/>
          </a:xfrm>
          <a:prstGeom prst="roundRect">
            <a:avLst>
              <a:gd name="adj" fmla="val 14286"/>
            </a:avLst>
          </a:prstGeom>
          <a:solidFill>
            <a:srgbClr val="17213C"/>
          </a:solidFill>
          <a:ln w="9525">
            <a:solidFill>
              <a:srgbClr val="1721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8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Tester champs manquants</a:t>
            </a:r>
            <a:endParaRPr lang="fr-BE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nav-6-home">
            <a:hlinkClick r:id="rId3" action="ppaction://hlinksldjump"/>
          </p:cNvPr>
          <p:cNvSpPr/>
          <p:nvPr/>
        </p:nvSpPr>
        <p:spPr>
          <a:xfrm>
            <a:off x="438120" y="6305400"/>
            <a:ext cx="1028520" cy="342720"/>
          </a:xfrm>
          <a:prstGeom prst="roundRect">
            <a:avLst>
              <a:gd name="adj" fmla="val 16667"/>
            </a:avLst>
          </a:prstGeom>
          <a:solidFill>
            <a:srgbClr val="17213C"/>
          </a:solidFill>
          <a:ln w="9525">
            <a:solidFill>
              <a:srgbClr val="1721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8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Accueil</a:t>
            </a:r>
            <a:endParaRPr lang="fr-BE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nav-6-prev">
            <a:hlinkClick r:id="rId4" action="ppaction://hlinksldjump"/>
          </p:cNvPr>
          <p:cNvSpPr/>
          <p:nvPr/>
        </p:nvSpPr>
        <p:spPr>
          <a:xfrm>
            <a:off x="1562040" y="6305400"/>
            <a:ext cx="1028520" cy="342720"/>
          </a:xfrm>
          <a:prstGeom prst="roundRect">
            <a:avLst>
              <a:gd name="adj" fmla="val 16667"/>
            </a:avLst>
          </a:prstGeom>
          <a:solidFill>
            <a:srgbClr val="17213C"/>
          </a:solidFill>
          <a:ln w="9525">
            <a:solidFill>
              <a:srgbClr val="1721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8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Retour</a:t>
            </a:r>
            <a:endParaRPr lang="fr-BE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nav-6-next">
            <a:hlinkClick r:id="rId5" action="ppaction://hlinksldjump"/>
          </p:cNvPr>
          <p:cNvSpPr/>
          <p:nvPr/>
        </p:nvSpPr>
        <p:spPr>
          <a:xfrm>
            <a:off x="10363320" y="6305400"/>
            <a:ext cx="1390320" cy="342720"/>
          </a:xfrm>
          <a:prstGeom prst="roundRect">
            <a:avLst>
              <a:gd name="adj" fmla="val 16667"/>
            </a:avLst>
          </a:prstGeom>
          <a:solidFill>
            <a:srgbClr val="13BFEA"/>
          </a:solidFill>
          <a:ln w="9525">
            <a:solidFill>
              <a:srgbClr val="13B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8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Suivant</a:t>
            </a:r>
            <a:endParaRPr lang="fr-BE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90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slide-title"/>
          <p:cNvSpPr/>
          <p:nvPr/>
        </p:nvSpPr>
        <p:spPr>
          <a:xfrm>
            <a:off x="438120" y="247680"/>
            <a:ext cx="809604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2320" b="1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Le formulaire signale les champs manquants</a:t>
            </a:r>
            <a:endParaRPr lang="fr-BE" sz="2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slide-subtitle"/>
          <p:cNvSpPr/>
          <p:nvPr/>
        </p:nvSpPr>
        <p:spPr>
          <a:xfrm>
            <a:off x="457200" y="666720"/>
            <a:ext cx="80960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L’erreur indique quoi corriger avant de continuer</a:t>
            </a:r>
            <a:endParaRPr lang="fr-B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slide-count"/>
          <p:cNvSpPr/>
          <p:nvPr/>
        </p:nvSpPr>
        <p:spPr>
          <a:xfrm>
            <a:off x="11125080" y="343080"/>
            <a:ext cx="6663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13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7/16</a:t>
            </a:r>
            <a:endParaRPr lang="fr-BE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op-rule"/>
          <p:cNvSpPr/>
          <p:nvPr/>
        </p:nvSpPr>
        <p:spPr>
          <a:xfrm>
            <a:off x="438120" y="1028520"/>
            <a:ext cx="11315520" cy="360"/>
          </a:xfrm>
          <a:prstGeom prst="line">
            <a:avLst/>
          </a:prstGeom>
          <a:ln w="9525">
            <a:solidFill>
              <a:srgbClr val="2B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B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browser-frame"/>
          <p:cNvSpPr/>
          <p:nvPr/>
        </p:nvSpPr>
        <p:spPr>
          <a:xfrm>
            <a:off x="438120" y="1181160"/>
            <a:ext cx="11315520" cy="4838400"/>
          </a:xfrm>
          <a:prstGeom prst="roundRect">
            <a:avLst>
              <a:gd name="adj" fmla="val 1575"/>
            </a:avLst>
          </a:prstGeom>
          <a:solidFill>
            <a:srgbClr val="F8FAFC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browser-top"/>
          <p:cNvSpPr/>
          <p:nvPr/>
        </p:nvSpPr>
        <p:spPr>
          <a:xfrm>
            <a:off x="438120" y="1181160"/>
            <a:ext cx="11315520" cy="495000"/>
          </a:xfrm>
          <a:prstGeom prst="roundRect">
            <a:avLst>
              <a:gd name="adj" fmla="val 15385"/>
            </a:avLst>
          </a:prstGeom>
          <a:solidFill>
            <a:srgbClr val="EAF0F7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ab-accueil"/>
          <p:cNvSpPr/>
          <p:nvPr/>
        </p:nvSpPr>
        <p:spPr>
          <a:xfrm>
            <a:off x="666720" y="1305000"/>
            <a:ext cx="1199880" cy="2664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980" b="1" u="none" strike="noStrike">
                <a:solidFill>
                  <a:srgbClr val="25324B"/>
                </a:solidFill>
                <a:effectLst/>
                <a:uFillTx/>
                <a:latin typeface="Calibri"/>
                <a:ea typeface="Calibri"/>
              </a:rPr>
              <a:t>Accueil</a:t>
            </a:r>
            <a:endParaRPr lang="fr-BE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ab-offres"/>
          <p:cNvSpPr/>
          <p:nvPr/>
        </p:nvSpPr>
        <p:spPr>
          <a:xfrm>
            <a:off x="1962000" y="1305000"/>
            <a:ext cx="1199880" cy="2664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980" b="1" u="none" strike="noStrike">
                <a:solidFill>
                  <a:srgbClr val="25324B"/>
                </a:solidFill>
                <a:effectLst/>
                <a:uFillTx/>
                <a:latin typeface="Calibri"/>
                <a:ea typeface="Calibri"/>
              </a:rPr>
              <a:t>Offres</a:t>
            </a:r>
            <a:endParaRPr lang="fr-BE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ab-djs"/>
          <p:cNvSpPr/>
          <p:nvPr/>
        </p:nvSpPr>
        <p:spPr>
          <a:xfrm>
            <a:off x="3257640" y="1305000"/>
            <a:ext cx="1199880" cy="2664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980" b="1" u="none" strike="noStrike">
                <a:solidFill>
                  <a:srgbClr val="25324B"/>
                </a:solidFill>
                <a:effectLst/>
                <a:uFillTx/>
                <a:latin typeface="Calibri"/>
                <a:ea typeface="Calibri"/>
              </a:rPr>
              <a:t>DJs</a:t>
            </a:r>
            <a:endParaRPr lang="fr-BE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ab-réservation"/>
          <p:cNvSpPr/>
          <p:nvPr/>
        </p:nvSpPr>
        <p:spPr>
          <a:xfrm>
            <a:off x="4552920" y="1305000"/>
            <a:ext cx="1199880" cy="266400"/>
          </a:xfrm>
          <a:prstGeom prst="roundRect">
            <a:avLst>
              <a:gd name="adj" fmla="val 21429"/>
            </a:avLst>
          </a:prstGeom>
          <a:solidFill>
            <a:srgbClr val="090E1E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98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Réservation</a:t>
            </a:r>
            <a:endParaRPr lang="fr-BE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ab-profil"/>
          <p:cNvSpPr/>
          <p:nvPr/>
        </p:nvSpPr>
        <p:spPr>
          <a:xfrm>
            <a:off x="5848200" y="1305000"/>
            <a:ext cx="1199880" cy="2664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980" b="1" u="none" strike="noStrike">
                <a:solidFill>
                  <a:srgbClr val="25324B"/>
                </a:solidFill>
                <a:effectLst/>
                <a:uFillTx/>
                <a:latin typeface="Calibri"/>
                <a:ea typeface="Calibri"/>
              </a:rPr>
              <a:t>Profil</a:t>
            </a:r>
            <a:endParaRPr lang="fr-BE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missing-place-label"/>
          <p:cNvSpPr/>
          <p:nvPr/>
        </p:nvSpPr>
        <p:spPr>
          <a:xfrm>
            <a:off x="1047600" y="2143080"/>
            <a:ext cx="304776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050" b="1" u="none" strike="noStrike">
                <a:solidFill>
                  <a:srgbClr val="EF4444"/>
                </a:solidFill>
                <a:effectLst/>
                <a:uFillTx/>
                <a:latin typeface="Calibri"/>
                <a:ea typeface="Calibri"/>
              </a:rPr>
              <a:t>Lieu</a:t>
            </a:r>
            <a:endParaRPr lang="fr-BE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missing-place"/>
          <p:cNvSpPr/>
          <p:nvPr/>
        </p:nvSpPr>
        <p:spPr>
          <a:xfrm>
            <a:off x="1047600" y="2371680"/>
            <a:ext cx="3047760" cy="36144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905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missing-parking-label"/>
          <p:cNvSpPr/>
          <p:nvPr/>
        </p:nvSpPr>
        <p:spPr>
          <a:xfrm>
            <a:off x="4476600" y="2143080"/>
            <a:ext cx="24760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050" b="1" u="none" strike="noStrike">
                <a:solidFill>
                  <a:srgbClr val="EF4444"/>
                </a:solidFill>
                <a:effectLst/>
                <a:uFillTx/>
                <a:latin typeface="Calibri"/>
                <a:ea typeface="Calibri"/>
              </a:rPr>
              <a:t>Parking disponible</a:t>
            </a:r>
            <a:endParaRPr lang="fr-BE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missing-parking"/>
          <p:cNvSpPr/>
          <p:nvPr/>
        </p:nvSpPr>
        <p:spPr>
          <a:xfrm>
            <a:off x="4476600" y="2371680"/>
            <a:ext cx="2476080" cy="36144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905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ok-date-label"/>
          <p:cNvSpPr/>
          <p:nvPr/>
        </p:nvSpPr>
        <p:spPr>
          <a:xfrm>
            <a:off x="7334280" y="2143080"/>
            <a:ext cx="209520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050" b="1" u="none" strike="noStrik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Date</a:t>
            </a:r>
            <a:endParaRPr lang="fr-BE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ok-date"/>
          <p:cNvSpPr/>
          <p:nvPr/>
        </p:nvSpPr>
        <p:spPr>
          <a:xfrm>
            <a:off x="7334280" y="2371680"/>
            <a:ext cx="2095200" cy="36144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130" b="0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20/09/2026</a:t>
            </a:r>
            <a:endParaRPr lang="fr-BE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error-message"/>
          <p:cNvSpPr/>
          <p:nvPr/>
        </p:nvSpPr>
        <p:spPr>
          <a:xfrm>
            <a:off x="1047600" y="3238560"/>
            <a:ext cx="723852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500" b="1" u="none" strike="noStrike">
                <a:solidFill>
                  <a:srgbClr val="EF4444"/>
                </a:solidFill>
                <a:effectLst/>
                <a:uFillTx/>
                <a:latin typeface="Calibri"/>
                <a:ea typeface="Calibri"/>
              </a:rPr>
              <a:t>Veuillez compléter le lieu et l’information de parking avant de générer le devis.</a:t>
            </a:r>
            <a:endParaRPr lang="fr-B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error-back-form">
            <a:hlinkClick r:id="rId1" action="ppaction://hlinksldjump"/>
          </p:cNvPr>
          <p:cNvSpPr/>
          <p:nvPr/>
        </p:nvSpPr>
        <p:spPr>
          <a:xfrm>
            <a:off x="1047600" y="3905280"/>
            <a:ext cx="2190240" cy="399600"/>
          </a:xfrm>
          <a:prstGeom prst="roundRect">
            <a:avLst>
              <a:gd name="adj" fmla="val 14286"/>
            </a:avLst>
          </a:prstGeom>
          <a:solidFill>
            <a:srgbClr val="13BFEA"/>
          </a:solidFill>
          <a:ln w="9525">
            <a:solidFill>
              <a:srgbClr val="13B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8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Corriger le formulaire</a:t>
            </a:r>
            <a:endParaRPr lang="fr-BE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nav-7-home">
            <a:hlinkClick r:id="rId2" action="ppaction://hlinksldjump"/>
          </p:cNvPr>
          <p:cNvSpPr/>
          <p:nvPr/>
        </p:nvSpPr>
        <p:spPr>
          <a:xfrm>
            <a:off x="438120" y="6305400"/>
            <a:ext cx="1028520" cy="342720"/>
          </a:xfrm>
          <a:prstGeom prst="roundRect">
            <a:avLst>
              <a:gd name="adj" fmla="val 16667"/>
            </a:avLst>
          </a:prstGeom>
          <a:solidFill>
            <a:srgbClr val="17213C"/>
          </a:solidFill>
          <a:ln w="9525">
            <a:solidFill>
              <a:srgbClr val="1721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8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Accueil</a:t>
            </a:r>
            <a:endParaRPr lang="fr-BE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nav-7-prev">
            <a:hlinkClick r:id="rId3" action="ppaction://hlinksldjump"/>
          </p:cNvPr>
          <p:cNvSpPr/>
          <p:nvPr/>
        </p:nvSpPr>
        <p:spPr>
          <a:xfrm>
            <a:off x="1562040" y="6305400"/>
            <a:ext cx="1028520" cy="342720"/>
          </a:xfrm>
          <a:prstGeom prst="roundRect">
            <a:avLst>
              <a:gd name="adj" fmla="val 16667"/>
            </a:avLst>
          </a:prstGeom>
          <a:solidFill>
            <a:srgbClr val="17213C"/>
          </a:solidFill>
          <a:ln w="9525">
            <a:solidFill>
              <a:srgbClr val="1721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8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Retour</a:t>
            </a:r>
            <a:endParaRPr lang="fr-BE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nav-7-next">
            <a:hlinkClick r:id="rId4" action="ppaction://hlinksldjump"/>
          </p:cNvPr>
          <p:cNvSpPr/>
          <p:nvPr/>
        </p:nvSpPr>
        <p:spPr>
          <a:xfrm>
            <a:off x="10363320" y="6305400"/>
            <a:ext cx="1390320" cy="342720"/>
          </a:xfrm>
          <a:prstGeom prst="roundRect">
            <a:avLst>
              <a:gd name="adj" fmla="val 16667"/>
            </a:avLst>
          </a:prstGeom>
          <a:solidFill>
            <a:srgbClr val="13BFEA"/>
          </a:solidFill>
          <a:ln w="9525">
            <a:solidFill>
              <a:srgbClr val="13B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8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Suivant</a:t>
            </a:r>
            <a:endParaRPr lang="fr-BE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90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slide-title"/>
          <p:cNvSpPr/>
          <p:nvPr/>
        </p:nvSpPr>
        <p:spPr>
          <a:xfrm>
            <a:off x="438120" y="247680"/>
            <a:ext cx="809604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2320" b="1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Le devis informatif prépare la validation</a:t>
            </a:r>
            <a:endParaRPr lang="fr-BE" sz="2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slide-subtitle"/>
          <p:cNvSpPr/>
          <p:nvPr/>
        </p:nvSpPr>
        <p:spPr>
          <a:xfrm>
            <a:off x="457200" y="666720"/>
            <a:ext cx="80960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Le client voit le montant, l’acompte et les conditions</a:t>
            </a:r>
            <a:endParaRPr lang="fr-B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slide-count"/>
          <p:cNvSpPr/>
          <p:nvPr/>
        </p:nvSpPr>
        <p:spPr>
          <a:xfrm>
            <a:off x="11125080" y="343080"/>
            <a:ext cx="6663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13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8/16</a:t>
            </a:r>
            <a:endParaRPr lang="fr-BE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op-rule"/>
          <p:cNvSpPr/>
          <p:nvPr/>
        </p:nvSpPr>
        <p:spPr>
          <a:xfrm>
            <a:off x="438120" y="1028520"/>
            <a:ext cx="11315520" cy="360"/>
          </a:xfrm>
          <a:prstGeom prst="line">
            <a:avLst/>
          </a:prstGeom>
          <a:ln w="9525">
            <a:solidFill>
              <a:srgbClr val="2B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B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browser-frame"/>
          <p:cNvSpPr/>
          <p:nvPr/>
        </p:nvSpPr>
        <p:spPr>
          <a:xfrm>
            <a:off x="438120" y="1181160"/>
            <a:ext cx="11315520" cy="4838400"/>
          </a:xfrm>
          <a:prstGeom prst="roundRect">
            <a:avLst>
              <a:gd name="adj" fmla="val 1575"/>
            </a:avLst>
          </a:prstGeom>
          <a:solidFill>
            <a:srgbClr val="F8FAFC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browser-top"/>
          <p:cNvSpPr/>
          <p:nvPr/>
        </p:nvSpPr>
        <p:spPr>
          <a:xfrm>
            <a:off x="438120" y="1181160"/>
            <a:ext cx="11315520" cy="495000"/>
          </a:xfrm>
          <a:prstGeom prst="roundRect">
            <a:avLst>
              <a:gd name="adj" fmla="val 15385"/>
            </a:avLst>
          </a:prstGeom>
          <a:solidFill>
            <a:srgbClr val="EAF0F7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ab-accueil"/>
          <p:cNvSpPr/>
          <p:nvPr/>
        </p:nvSpPr>
        <p:spPr>
          <a:xfrm>
            <a:off x="666720" y="1305000"/>
            <a:ext cx="1199880" cy="2664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980" b="1" u="none" strike="noStrike">
                <a:solidFill>
                  <a:srgbClr val="25324B"/>
                </a:solidFill>
                <a:effectLst/>
                <a:uFillTx/>
                <a:latin typeface="Calibri"/>
                <a:ea typeface="Calibri"/>
              </a:rPr>
              <a:t>Accueil</a:t>
            </a:r>
            <a:endParaRPr lang="fr-BE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ab-offres"/>
          <p:cNvSpPr/>
          <p:nvPr/>
        </p:nvSpPr>
        <p:spPr>
          <a:xfrm>
            <a:off x="1962000" y="1305000"/>
            <a:ext cx="1199880" cy="2664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980" b="1" u="none" strike="noStrike">
                <a:solidFill>
                  <a:srgbClr val="25324B"/>
                </a:solidFill>
                <a:effectLst/>
                <a:uFillTx/>
                <a:latin typeface="Calibri"/>
                <a:ea typeface="Calibri"/>
              </a:rPr>
              <a:t>Offres</a:t>
            </a:r>
            <a:endParaRPr lang="fr-BE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ab-djs"/>
          <p:cNvSpPr/>
          <p:nvPr/>
        </p:nvSpPr>
        <p:spPr>
          <a:xfrm>
            <a:off x="3257640" y="1305000"/>
            <a:ext cx="1199880" cy="2664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980" b="1" u="none" strike="noStrike">
                <a:solidFill>
                  <a:srgbClr val="25324B"/>
                </a:solidFill>
                <a:effectLst/>
                <a:uFillTx/>
                <a:latin typeface="Calibri"/>
                <a:ea typeface="Calibri"/>
              </a:rPr>
              <a:t>DJs</a:t>
            </a:r>
            <a:endParaRPr lang="fr-BE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ab-réservation"/>
          <p:cNvSpPr/>
          <p:nvPr/>
        </p:nvSpPr>
        <p:spPr>
          <a:xfrm>
            <a:off x="4552920" y="1305000"/>
            <a:ext cx="1199880" cy="266400"/>
          </a:xfrm>
          <a:prstGeom prst="roundRect">
            <a:avLst>
              <a:gd name="adj" fmla="val 21429"/>
            </a:avLst>
          </a:prstGeom>
          <a:solidFill>
            <a:srgbClr val="090E1E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98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Réservation</a:t>
            </a:r>
            <a:endParaRPr lang="fr-BE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tab-profil"/>
          <p:cNvSpPr/>
          <p:nvPr/>
        </p:nvSpPr>
        <p:spPr>
          <a:xfrm>
            <a:off x="5848200" y="1305000"/>
            <a:ext cx="1199880" cy="2664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980" b="1" u="none" strike="noStrike">
                <a:solidFill>
                  <a:srgbClr val="25324B"/>
                </a:solidFill>
                <a:effectLst/>
                <a:uFillTx/>
                <a:latin typeface="Calibri"/>
                <a:ea typeface="Calibri"/>
              </a:rPr>
              <a:t>Profil</a:t>
            </a:r>
            <a:endParaRPr lang="fr-BE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quote-number"/>
          <p:cNvSpPr/>
          <p:nvPr/>
        </p:nvSpPr>
        <p:spPr>
          <a:xfrm>
            <a:off x="857160" y="1952640"/>
            <a:ext cx="34286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8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Devis n°DV-2026-0042</a:t>
            </a:r>
            <a:endParaRPr lang="fr-B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quote-row-260"/>
          <p:cNvSpPr/>
          <p:nvPr/>
        </p:nvSpPr>
        <p:spPr>
          <a:xfrm>
            <a:off x="857160" y="2476440"/>
            <a:ext cx="6190920" cy="3427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quote-left-260"/>
          <p:cNvSpPr/>
          <p:nvPr/>
        </p:nvSpPr>
        <p:spPr>
          <a:xfrm>
            <a:off x="1047600" y="2552760"/>
            <a:ext cx="400032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130" b="0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Formule Premium</a:t>
            </a:r>
            <a:endParaRPr lang="fr-BE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quote-right-260"/>
          <p:cNvSpPr/>
          <p:nvPr/>
        </p:nvSpPr>
        <p:spPr>
          <a:xfrm>
            <a:off x="5715000" y="2552760"/>
            <a:ext cx="10472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13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950 €</a:t>
            </a:r>
            <a:endParaRPr lang="fr-BE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quote-row-298"/>
          <p:cNvSpPr/>
          <p:nvPr/>
        </p:nvSpPr>
        <p:spPr>
          <a:xfrm>
            <a:off x="857160" y="2838600"/>
            <a:ext cx="6190920" cy="3427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quote-left-298"/>
          <p:cNvSpPr/>
          <p:nvPr/>
        </p:nvSpPr>
        <p:spPr>
          <a:xfrm>
            <a:off x="1047600" y="2914560"/>
            <a:ext cx="400032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130" b="0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Sonorisation +</a:t>
            </a:r>
            <a:endParaRPr lang="fr-BE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quote-right-298"/>
          <p:cNvSpPr/>
          <p:nvPr/>
        </p:nvSpPr>
        <p:spPr>
          <a:xfrm>
            <a:off x="5715000" y="2914560"/>
            <a:ext cx="10472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13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120 €</a:t>
            </a:r>
            <a:endParaRPr lang="fr-BE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quote-row-336"/>
          <p:cNvSpPr/>
          <p:nvPr/>
        </p:nvSpPr>
        <p:spPr>
          <a:xfrm>
            <a:off x="857160" y="3200400"/>
            <a:ext cx="6190920" cy="3427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quote-left-336"/>
          <p:cNvSpPr/>
          <p:nvPr/>
        </p:nvSpPr>
        <p:spPr>
          <a:xfrm>
            <a:off x="1047600" y="3276720"/>
            <a:ext cx="400032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130" b="0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Éclairage</a:t>
            </a:r>
            <a:endParaRPr lang="fr-BE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quote-right-336"/>
          <p:cNvSpPr/>
          <p:nvPr/>
        </p:nvSpPr>
        <p:spPr>
          <a:xfrm>
            <a:off x="5715000" y="3276720"/>
            <a:ext cx="10472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13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90 €</a:t>
            </a:r>
            <a:endParaRPr lang="fr-BE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quote-row-374"/>
          <p:cNvSpPr/>
          <p:nvPr/>
        </p:nvSpPr>
        <p:spPr>
          <a:xfrm>
            <a:off x="857160" y="3562200"/>
            <a:ext cx="6190920" cy="3427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quote-left-374"/>
          <p:cNvSpPr/>
          <p:nvPr/>
        </p:nvSpPr>
        <p:spPr>
          <a:xfrm>
            <a:off x="1047600" y="3638520"/>
            <a:ext cx="400032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130" b="0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Déplacement estimé</a:t>
            </a:r>
            <a:endParaRPr lang="fr-BE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quote-right-374"/>
          <p:cNvSpPr/>
          <p:nvPr/>
        </p:nvSpPr>
        <p:spPr>
          <a:xfrm>
            <a:off x="5715000" y="3638520"/>
            <a:ext cx="10472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13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45 €</a:t>
            </a:r>
            <a:endParaRPr lang="fr-BE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quote-row-412"/>
          <p:cNvSpPr/>
          <p:nvPr/>
        </p:nvSpPr>
        <p:spPr>
          <a:xfrm>
            <a:off x="857160" y="3924360"/>
            <a:ext cx="6190920" cy="342720"/>
          </a:xfrm>
          <a:prstGeom prst="roundRect">
            <a:avLst>
              <a:gd name="adj" fmla="val 5556"/>
            </a:avLst>
          </a:prstGeom>
          <a:solidFill>
            <a:srgbClr val="EAF7FF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quote-left-412"/>
          <p:cNvSpPr/>
          <p:nvPr/>
        </p:nvSpPr>
        <p:spPr>
          <a:xfrm>
            <a:off x="1047600" y="4000680"/>
            <a:ext cx="400032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13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Total</a:t>
            </a:r>
            <a:endParaRPr lang="fr-BE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quote-right-412"/>
          <p:cNvSpPr/>
          <p:nvPr/>
        </p:nvSpPr>
        <p:spPr>
          <a:xfrm>
            <a:off x="5715000" y="4000680"/>
            <a:ext cx="10472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13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1 205 €</a:t>
            </a:r>
            <a:endParaRPr lang="fr-BE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quote-row-450"/>
          <p:cNvSpPr/>
          <p:nvPr/>
        </p:nvSpPr>
        <p:spPr>
          <a:xfrm>
            <a:off x="857160" y="4286160"/>
            <a:ext cx="6190920" cy="342720"/>
          </a:xfrm>
          <a:prstGeom prst="roundRect">
            <a:avLst>
              <a:gd name="adj" fmla="val 5556"/>
            </a:avLst>
          </a:prstGeom>
          <a:solidFill>
            <a:srgbClr val="EAF7FF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quote-left-450"/>
          <p:cNvSpPr/>
          <p:nvPr/>
        </p:nvSpPr>
        <p:spPr>
          <a:xfrm>
            <a:off x="1047600" y="4362480"/>
            <a:ext cx="400032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130" b="0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Acompte proposé</a:t>
            </a:r>
            <a:endParaRPr lang="fr-BE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quote-right-450"/>
          <p:cNvSpPr/>
          <p:nvPr/>
        </p:nvSpPr>
        <p:spPr>
          <a:xfrm>
            <a:off x="5715000" y="4362480"/>
            <a:ext cx="10472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13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300 €</a:t>
            </a:r>
            <a:endParaRPr lang="fr-BE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quote-note"/>
          <p:cNvSpPr/>
          <p:nvPr/>
        </p:nvSpPr>
        <p:spPr>
          <a:xfrm>
            <a:off x="857160" y="4905360"/>
            <a:ext cx="66672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8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Un mariage nécessite un rendez-vous préparatoire avant contrat définitif.</a:t>
            </a:r>
            <a:endParaRPr lang="fr-BE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quote-to-rdv">
            <a:hlinkClick r:id="rId1" action="ppaction://hlinksldjump"/>
          </p:cNvPr>
          <p:cNvSpPr/>
          <p:nvPr/>
        </p:nvSpPr>
        <p:spPr>
          <a:xfrm>
            <a:off x="7886880" y="4819680"/>
            <a:ext cx="2476080" cy="399600"/>
          </a:xfrm>
          <a:prstGeom prst="roundRect">
            <a:avLst>
              <a:gd name="adj" fmla="val 14286"/>
            </a:avLst>
          </a:prstGeom>
          <a:solidFill>
            <a:srgbClr val="13BFEA"/>
          </a:solidFill>
          <a:ln w="9525">
            <a:solidFill>
              <a:srgbClr val="13B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8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Planifier le rendez-vous</a:t>
            </a:r>
            <a:endParaRPr lang="fr-BE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nav-8-home">
            <a:hlinkClick r:id="rId2" action="ppaction://hlinksldjump"/>
          </p:cNvPr>
          <p:cNvSpPr/>
          <p:nvPr/>
        </p:nvSpPr>
        <p:spPr>
          <a:xfrm>
            <a:off x="438120" y="6305400"/>
            <a:ext cx="1028520" cy="342720"/>
          </a:xfrm>
          <a:prstGeom prst="roundRect">
            <a:avLst>
              <a:gd name="adj" fmla="val 16667"/>
            </a:avLst>
          </a:prstGeom>
          <a:solidFill>
            <a:srgbClr val="17213C"/>
          </a:solidFill>
          <a:ln w="9525">
            <a:solidFill>
              <a:srgbClr val="1721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8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Accueil</a:t>
            </a:r>
            <a:endParaRPr lang="fr-BE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nav-8-prev">
            <a:hlinkClick r:id="rId3" action="ppaction://hlinksldjump"/>
          </p:cNvPr>
          <p:cNvSpPr/>
          <p:nvPr/>
        </p:nvSpPr>
        <p:spPr>
          <a:xfrm>
            <a:off x="1562040" y="6305400"/>
            <a:ext cx="1028520" cy="342720"/>
          </a:xfrm>
          <a:prstGeom prst="roundRect">
            <a:avLst>
              <a:gd name="adj" fmla="val 16667"/>
            </a:avLst>
          </a:prstGeom>
          <a:solidFill>
            <a:srgbClr val="17213C"/>
          </a:solidFill>
          <a:ln w="9525">
            <a:solidFill>
              <a:srgbClr val="1721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8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Retour</a:t>
            </a:r>
            <a:endParaRPr lang="fr-BE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nav-8-next">
            <a:hlinkClick r:id="rId4" action="ppaction://hlinksldjump"/>
          </p:cNvPr>
          <p:cNvSpPr/>
          <p:nvPr/>
        </p:nvSpPr>
        <p:spPr>
          <a:xfrm>
            <a:off x="10363320" y="6305400"/>
            <a:ext cx="1390320" cy="342720"/>
          </a:xfrm>
          <a:prstGeom prst="roundRect">
            <a:avLst>
              <a:gd name="adj" fmla="val 16667"/>
            </a:avLst>
          </a:prstGeom>
          <a:solidFill>
            <a:srgbClr val="13BFEA"/>
          </a:solidFill>
          <a:ln w="9525">
            <a:solidFill>
              <a:srgbClr val="13B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8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Suivant</a:t>
            </a:r>
            <a:endParaRPr lang="fr-BE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90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slide-title"/>
          <p:cNvSpPr/>
          <p:nvPr/>
        </p:nvSpPr>
        <p:spPr>
          <a:xfrm>
            <a:off x="438120" y="247680"/>
            <a:ext cx="809604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2320" b="1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Le rendez-vous préparatoire rassure le client</a:t>
            </a:r>
            <a:endParaRPr lang="fr-BE" sz="2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slide-subtitle"/>
          <p:cNvSpPr/>
          <p:nvPr/>
        </p:nvSpPr>
        <p:spPr>
          <a:xfrm>
            <a:off x="457200" y="666720"/>
            <a:ext cx="80960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Il est prévu pour les gros contrats comme mariage ou entreprise</a:t>
            </a:r>
            <a:endParaRPr lang="fr-B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slide-count"/>
          <p:cNvSpPr/>
          <p:nvPr/>
        </p:nvSpPr>
        <p:spPr>
          <a:xfrm>
            <a:off x="11125080" y="343080"/>
            <a:ext cx="6663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13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9/16</a:t>
            </a:r>
            <a:endParaRPr lang="fr-BE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top-rule"/>
          <p:cNvSpPr/>
          <p:nvPr/>
        </p:nvSpPr>
        <p:spPr>
          <a:xfrm>
            <a:off x="438120" y="1028520"/>
            <a:ext cx="11315520" cy="360"/>
          </a:xfrm>
          <a:prstGeom prst="line">
            <a:avLst/>
          </a:prstGeom>
          <a:ln w="9525">
            <a:solidFill>
              <a:srgbClr val="2B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B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browser-frame"/>
          <p:cNvSpPr/>
          <p:nvPr/>
        </p:nvSpPr>
        <p:spPr>
          <a:xfrm>
            <a:off x="438120" y="1181160"/>
            <a:ext cx="11315520" cy="4838400"/>
          </a:xfrm>
          <a:prstGeom prst="roundRect">
            <a:avLst>
              <a:gd name="adj" fmla="val 1575"/>
            </a:avLst>
          </a:prstGeom>
          <a:solidFill>
            <a:srgbClr val="F8FAFC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browser-top"/>
          <p:cNvSpPr/>
          <p:nvPr/>
        </p:nvSpPr>
        <p:spPr>
          <a:xfrm>
            <a:off x="438120" y="1181160"/>
            <a:ext cx="11315520" cy="495000"/>
          </a:xfrm>
          <a:prstGeom prst="roundRect">
            <a:avLst>
              <a:gd name="adj" fmla="val 15385"/>
            </a:avLst>
          </a:prstGeom>
          <a:solidFill>
            <a:srgbClr val="EAF0F7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ab-accueil"/>
          <p:cNvSpPr/>
          <p:nvPr/>
        </p:nvSpPr>
        <p:spPr>
          <a:xfrm>
            <a:off x="666720" y="1305000"/>
            <a:ext cx="1199880" cy="2664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980" b="1" u="none" strike="noStrike">
                <a:solidFill>
                  <a:srgbClr val="25324B"/>
                </a:solidFill>
                <a:effectLst/>
                <a:uFillTx/>
                <a:latin typeface="Calibri"/>
                <a:ea typeface="Calibri"/>
              </a:rPr>
              <a:t>Accueil</a:t>
            </a:r>
            <a:endParaRPr lang="fr-BE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ab-offres"/>
          <p:cNvSpPr/>
          <p:nvPr/>
        </p:nvSpPr>
        <p:spPr>
          <a:xfrm>
            <a:off x="1962000" y="1305000"/>
            <a:ext cx="1199880" cy="2664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980" b="1" u="none" strike="noStrike">
                <a:solidFill>
                  <a:srgbClr val="25324B"/>
                </a:solidFill>
                <a:effectLst/>
                <a:uFillTx/>
                <a:latin typeface="Calibri"/>
                <a:ea typeface="Calibri"/>
              </a:rPr>
              <a:t>Offres</a:t>
            </a:r>
            <a:endParaRPr lang="fr-BE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ab-djs"/>
          <p:cNvSpPr/>
          <p:nvPr/>
        </p:nvSpPr>
        <p:spPr>
          <a:xfrm>
            <a:off x="3257640" y="1305000"/>
            <a:ext cx="1199880" cy="2664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980" b="1" u="none" strike="noStrike">
                <a:solidFill>
                  <a:srgbClr val="25324B"/>
                </a:solidFill>
                <a:effectLst/>
                <a:uFillTx/>
                <a:latin typeface="Calibri"/>
                <a:ea typeface="Calibri"/>
              </a:rPr>
              <a:t>DJs</a:t>
            </a:r>
            <a:endParaRPr lang="fr-BE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ab-réservation"/>
          <p:cNvSpPr/>
          <p:nvPr/>
        </p:nvSpPr>
        <p:spPr>
          <a:xfrm>
            <a:off x="4552920" y="1305000"/>
            <a:ext cx="1199880" cy="266400"/>
          </a:xfrm>
          <a:prstGeom prst="roundRect">
            <a:avLst>
              <a:gd name="adj" fmla="val 21429"/>
            </a:avLst>
          </a:prstGeom>
          <a:solidFill>
            <a:srgbClr val="090E1E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98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Réservation</a:t>
            </a:r>
            <a:endParaRPr lang="fr-BE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tab-profil"/>
          <p:cNvSpPr/>
          <p:nvPr/>
        </p:nvSpPr>
        <p:spPr>
          <a:xfrm>
            <a:off x="5848200" y="1305000"/>
            <a:ext cx="1199880" cy="2664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980" b="1" u="none" strike="noStrike">
                <a:solidFill>
                  <a:srgbClr val="25324B"/>
                </a:solidFill>
                <a:effectLst/>
                <a:uFillTx/>
                <a:latin typeface="Calibri"/>
                <a:ea typeface="Calibri"/>
              </a:rPr>
              <a:t>Profil</a:t>
            </a:r>
            <a:endParaRPr lang="fr-BE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rdv-online"/>
          <p:cNvSpPr/>
          <p:nvPr/>
        </p:nvSpPr>
        <p:spPr>
          <a:xfrm>
            <a:off x="1047600" y="2238480"/>
            <a:ext cx="3047760" cy="17143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rdv-online-accent"/>
          <p:cNvSpPr/>
          <p:nvPr/>
        </p:nvSpPr>
        <p:spPr>
          <a:xfrm>
            <a:off x="1047600" y="2238480"/>
            <a:ext cx="75960" cy="1714320"/>
          </a:xfrm>
          <a:prstGeom prst="rect">
            <a:avLst/>
          </a:prstGeom>
          <a:solidFill>
            <a:srgbClr val="13BFEA"/>
          </a:solidFill>
          <a:ln w="0">
            <a:solidFill>
              <a:srgbClr val="13BFEA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rdv-online-title"/>
          <p:cNvSpPr/>
          <p:nvPr/>
        </p:nvSpPr>
        <p:spPr>
          <a:xfrm>
            <a:off x="1257480" y="2390760"/>
            <a:ext cx="27046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5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En ligne</a:t>
            </a:r>
            <a:endParaRPr lang="fr-B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rdv-online-body"/>
          <p:cNvSpPr/>
          <p:nvPr/>
        </p:nvSpPr>
        <p:spPr>
          <a:xfrm>
            <a:off x="1257480" y="2733840"/>
            <a:ext cx="2704680" cy="110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13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Mercredi 02/09/2026 à 18h30</a:t>
            </a:r>
            <a:endParaRPr lang="fr-BE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13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Visio avec le DJ</a:t>
            </a:r>
            <a:endParaRPr lang="fr-BE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rdv-onsite"/>
          <p:cNvSpPr/>
          <p:nvPr/>
        </p:nvSpPr>
        <p:spPr>
          <a:xfrm>
            <a:off x="4572000" y="2238480"/>
            <a:ext cx="3047760" cy="17143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rdv-onsite-accent"/>
          <p:cNvSpPr/>
          <p:nvPr/>
        </p:nvSpPr>
        <p:spPr>
          <a:xfrm>
            <a:off x="4572000" y="2238480"/>
            <a:ext cx="75960" cy="1714320"/>
          </a:xfrm>
          <a:prstGeom prst="rect">
            <a:avLst/>
          </a:prstGeom>
          <a:solidFill>
            <a:srgbClr val="FF2D8B"/>
          </a:solidFill>
          <a:ln w="0">
            <a:solidFill>
              <a:srgbClr val="FF2D8B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B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rdv-onsite-title"/>
          <p:cNvSpPr/>
          <p:nvPr/>
        </p:nvSpPr>
        <p:spPr>
          <a:xfrm>
            <a:off x="4781520" y="2390760"/>
            <a:ext cx="27046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5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Présentiel</a:t>
            </a:r>
            <a:endParaRPr lang="fr-B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rdv-onsite-body"/>
          <p:cNvSpPr/>
          <p:nvPr/>
        </p:nvSpPr>
        <p:spPr>
          <a:xfrm>
            <a:off x="4781520" y="2733840"/>
            <a:ext cx="2704680" cy="110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13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Samedi 05/09/2026 à 11h00</a:t>
            </a:r>
            <a:endParaRPr lang="fr-BE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13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Rendez-vous au bureau</a:t>
            </a:r>
            <a:endParaRPr lang="fr-BE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rdv-explain"/>
          <p:cNvSpPr/>
          <p:nvPr/>
        </p:nvSpPr>
        <p:spPr>
          <a:xfrm>
            <a:off x="8096400" y="2381400"/>
            <a:ext cx="238104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350" b="0" u="none" strike="noStrik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Après le rendez-vous, l’administrateur encode un contrat personnalisé dans l’application.</a:t>
            </a:r>
            <a:endParaRPr lang="fr-BE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rdv-confirm">
            <a:hlinkClick r:id="rId1" action="ppaction://hlinksldjump"/>
          </p:cNvPr>
          <p:cNvSpPr/>
          <p:nvPr/>
        </p:nvSpPr>
        <p:spPr>
          <a:xfrm>
            <a:off x="1047600" y="4334040"/>
            <a:ext cx="2476080" cy="399600"/>
          </a:xfrm>
          <a:prstGeom prst="roundRect">
            <a:avLst>
              <a:gd name="adj" fmla="val 14286"/>
            </a:avLst>
          </a:prstGeom>
          <a:solidFill>
            <a:srgbClr val="13BFEA"/>
          </a:solidFill>
          <a:ln w="9525">
            <a:solidFill>
              <a:srgbClr val="13B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8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Confirmer le rendez-vous</a:t>
            </a:r>
            <a:endParaRPr lang="fr-BE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nav-9-home">
            <a:hlinkClick r:id="rId2" action="ppaction://hlinksldjump"/>
          </p:cNvPr>
          <p:cNvSpPr/>
          <p:nvPr/>
        </p:nvSpPr>
        <p:spPr>
          <a:xfrm>
            <a:off x="438120" y="6305400"/>
            <a:ext cx="1028520" cy="342720"/>
          </a:xfrm>
          <a:prstGeom prst="roundRect">
            <a:avLst>
              <a:gd name="adj" fmla="val 16667"/>
            </a:avLst>
          </a:prstGeom>
          <a:solidFill>
            <a:srgbClr val="17213C"/>
          </a:solidFill>
          <a:ln w="9525">
            <a:solidFill>
              <a:srgbClr val="1721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8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Accueil</a:t>
            </a:r>
            <a:endParaRPr lang="fr-BE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nav-9-prev">
            <a:hlinkClick r:id="rId3" action="ppaction://hlinksldjump"/>
          </p:cNvPr>
          <p:cNvSpPr/>
          <p:nvPr/>
        </p:nvSpPr>
        <p:spPr>
          <a:xfrm>
            <a:off x="1562040" y="6305400"/>
            <a:ext cx="1028520" cy="342720"/>
          </a:xfrm>
          <a:prstGeom prst="roundRect">
            <a:avLst>
              <a:gd name="adj" fmla="val 16667"/>
            </a:avLst>
          </a:prstGeom>
          <a:solidFill>
            <a:srgbClr val="17213C"/>
          </a:solidFill>
          <a:ln w="9525">
            <a:solidFill>
              <a:srgbClr val="1721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8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Retour</a:t>
            </a:r>
            <a:endParaRPr lang="fr-BE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nav-9-next">
            <a:hlinkClick r:id="rId4" action="ppaction://hlinksldjump"/>
          </p:cNvPr>
          <p:cNvSpPr/>
          <p:nvPr/>
        </p:nvSpPr>
        <p:spPr>
          <a:xfrm>
            <a:off x="10363320" y="6305400"/>
            <a:ext cx="1390320" cy="342720"/>
          </a:xfrm>
          <a:prstGeom prst="roundRect">
            <a:avLst>
              <a:gd name="adj" fmla="val 16667"/>
            </a:avLst>
          </a:prstGeom>
          <a:solidFill>
            <a:srgbClr val="13BFEA"/>
          </a:solidFill>
          <a:ln w="9525">
            <a:solidFill>
              <a:srgbClr val="13B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8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Suivant</a:t>
            </a:r>
            <a:endParaRPr lang="fr-BE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90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lide-title"/>
          <p:cNvSpPr/>
          <p:nvPr/>
        </p:nvSpPr>
        <p:spPr>
          <a:xfrm>
            <a:off x="438120" y="247680"/>
            <a:ext cx="809604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2320" b="1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Le contrat personnalisé formalise la prestation</a:t>
            </a:r>
            <a:endParaRPr lang="fr-BE" sz="2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slide-subtitle"/>
          <p:cNvSpPr/>
          <p:nvPr/>
        </p:nvSpPr>
        <p:spPr>
          <a:xfrm>
            <a:off x="457200" y="666720"/>
            <a:ext cx="80960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Le client valide les conditions avant le paiement de l’acompte</a:t>
            </a:r>
            <a:endParaRPr lang="fr-B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slide-count"/>
          <p:cNvSpPr/>
          <p:nvPr/>
        </p:nvSpPr>
        <p:spPr>
          <a:xfrm>
            <a:off x="11125080" y="343080"/>
            <a:ext cx="6663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13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10/16</a:t>
            </a:r>
            <a:endParaRPr lang="fr-BE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top-rule"/>
          <p:cNvSpPr/>
          <p:nvPr/>
        </p:nvSpPr>
        <p:spPr>
          <a:xfrm>
            <a:off x="438120" y="1028520"/>
            <a:ext cx="11315520" cy="360"/>
          </a:xfrm>
          <a:prstGeom prst="line">
            <a:avLst/>
          </a:prstGeom>
          <a:ln w="9525">
            <a:solidFill>
              <a:srgbClr val="2B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B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browser-frame"/>
          <p:cNvSpPr/>
          <p:nvPr/>
        </p:nvSpPr>
        <p:spPr>
          <a:xfrm>
            <a:off x="438120" y="1181160"/>
            <a:ext cx="11315520" cy="4838400"/>
          </a:xfrm>
          <a:prstGeom prst="roundRect">
            <a:avLst>
              <a:gd name="adj" fmla="val 1575"/>
            </a:avLst>
          </a:prstGeom>
          <a:solidFill>
            <a:srgbClr val="F8FAFC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browser-top"/>
          <p:cNvSpPr/>
          <p:nvPr/>
        </p:nvSpPr>
        <p:spPr>
          <a:xfrm>
            <a:off x="438120" y="1181160"/>
            <a:ext cx="11315520" cy="495000"/>
          </a:xfrm>
          <a:prstGeom prst="roundRect">
            <a:avLst>
              <a:gd name="adj" fmla="val 15385"/>
            </a:avLst>
          </a:prstGeom>
          <a:solidFill>
            <a:srgbClr val="EAF0F7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ab-accueil"/>
          <p:cNvSpPr/>
          <p:nvPr/>
        </p:nvSpPr>
        <p:spPr>
          <a:xfrm>
            <a:off x="666720" y="1305000"/>
            <a:ext cx="1199880" cy="2664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980" b="1" u="none" strike="noStrike">
                <a:solidFill>
                  <a:srgbClr val="25324B"/>
                </a:solidFill>
                <a:effectLst/>
                <a:uFillTx/>
                <a:latin typeface="Calibri"/>
                <a:ea typeface="Calibri"/>
              </a:rPr>
              <a:t>Accueil</a:t>
            </a:r>
            <a:endParaRPr lang="fr-BE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ab-offres"/>
          <p:cNvSpPr/>
          <p:nvPr/>
        </p:nvSpPr>
        <p:spPr>
          <a:xfrm>
            <a:off x="1962000" y="1305000"/>
            <a:ext cx="1199880" cy="2664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980" b="1" u="none" strike="noStrike">
                <a:solidFill>
                  <a:srgbClr val="25324B"/>
                </a:solidFill>
                <a:effectLst/>
                <a:uFillTx/>
                <a:latin typeface="Calibri"/>
                <a:ea typeface="Calibri"/>
              </a:rPr>
              <a:t>Offres</a:t>
            </a:r>
            <a:endParaRPr lang="fr-BE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ab-djs"/>
          <p:cNvSpPr/>
          <p:nvPr/>
        </p:nvSpPr>
        <p:spPr>
          <a:xfrm>
            <a:off x="3257640" y="1305000"/>
            <a:ext cx="1199880" cy="2664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980" b="1" u="none" strike="noStrike">
                <a:solidFill>
                  <a:srgbClr val="25324B"/>
                </a:solidFill>
                <a:effectLst/>
                <a:uFillTx/>
                <a:latin typeface="Calibri"/>
                <a:ea typeface="Calibri"/>
              </a:rPr>
              <a:t>DJs</a:t>
            </a:r>
            <a:endParaRPr lang="fr-BE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ab-réservation"/>
          <p:cNvSpPr/>
          <p:nvPr/>
        </p:nvSpPr>
        <p:spPr>
          <a:xfrm>
            <a:off x="4552920" y="1305000"/>
            <a:ext cx="1199880" cy="266400"/>
          </a:xfrm>
          <a:prstGeom prst="roundRect">
            <a:avLst>
              <a:gd name="adj" fmla="val 21429"/>
            </a:avLst>
          </a:prstGeom>
          <a:solidFill>
            <a:srgbClr val="090E1E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98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Réservation</a:t>
            </a:r>
            <a:endParaRPr lang="fr-BE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tab-profil"/>
          <p:cNvSpPr/>
          <p:nvPr/>
        </p:nvSpPr>
        <p:spPr>
          <a:xfrm>
            <a:off x="5848200" y="1305000"/>
            <a:ext cx="1199880" cy="2664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980" b="1" u="none" strike="noStrike">
                <a:solidFill>
                  <a:srgbClr val="25324B"/>
                </a:solidFill>
                <a:effectLst/>
                <a:uFillTx/>
                <a:latin typeface="Calibri"/>
                <a:ea typeface="Calibri"/>
              </a:rPr>
              <a:t>Profil</a:t>
            </a:r>
            <a:endParaRPr lang="fr-BE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contract-title"/>
          <p:cNvSpPr/>
          <p:nvPr/>
        </p:nvSpPr>
        <p:spPr>
          <a:xfrm>
            <a:off x="857160" y="1952640"/>
            <a:ext cx="34286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8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Contrat CT-2026-0042</a:t>
            </a:r>
            <a:endParaRPr lang="fr-B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check-265"/>
          <p:cNvSpPr/>
          <p:nvPr/>
        </p:nvSpPr>
        <p:spPr>
          <a:xfrm>
            <a:off x="1047600" y="2523960"/>
            <a:ext cx="533376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00" b="0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✓ Lieu et horaire confirmés</a:t>
            </a:r>
            <a:endParaRPr lang="fr-B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check-295"/>
          <p:cNvSpPr/>
          <p:nvPr/>
        </p:nvSpPr>
        <p:spPr>
          <a:xfrm>
            <a:off x="1047600" y="2809800"/>
            <a:ext cx="533376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00" b="0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✓ Modalités d’annulation précisées</a:t>
            </a:r>
            <a:endParaRPr lang="fr-B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check-325"/>
          <p:cNvSpPr/>
          <p:nvPr/>
        </p:nvSpPr>
        <p:spPr>
          <a:xfrm>
            <a:off x="1047600" y="3095640"/>
            <a:ext cx="533376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00" b="0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✓ Acompte de 300 € requis</a:t>
            </a:r>
            <a:endParaRPr lang="fr-B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check-355"/>
          <p:cNvSpPr/>
          <p:nvPr/>
        </p:nvSpPr>
        <p:spPr>
          <a:xfrm>
            <a:off x="1047600" y="3381480"/>
            <a:ext cx="533376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00" b="0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✓ Remboursement selon délai d’annulation</a:t>
            </a:r>
            <a:endParaRPr lang="fr-B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check-385"/>
          <p:cNvSpPr/>
          <p:nvPr/>
        </p:nvSpPr>
        <p:spPr>
          <a:xfrm>
            <a:off x="1047600" y="3666960"/>
            <a:ext cx="533376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00" b="0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✓ Créneau bloqué après paiement accepté</a:t>
            </a:r>
            <a:endParaRPr lang="fr-B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contract-accept">
            <a:hlinkClick r:id="rId1" action="ppaction://hlinksldjump"/>
          </p:cNvPr>
          <p:cNvSpPr/>
          <p:nvPr/>
        </p:nvSpPr>
        <p:spPr>
          <a:xfrm>
            <a:off x="7905600" y="2876400"/>
            <a:ext cx="1999800" cy="399600"/>
          </a:xfrm>
          <a:prstGeom prst="roundRect">
            <a:avLst>
              <a:gd name="adj" fmla="val 14286"/>
            </a:avLst>
          </a:prstGeom>
          <a:solidFill>
            <a:srgbClr val="13BFEA"/>
          </a:solidFill>
          <a:ln w="9525">
            <a:solidFill>
              <a:srgbClr val="13B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8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Valider le contrat</a:t>
            </a:r>
            <a:endParaRPr lang="fr-BE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nav-10-home">
            <a:hlinkClick r:id="rId2" action="ppaction://hlinksldjump"/>
          </p:cNvPr>
          <p:cNvSpPr/>
          <p:nvPr/>
        </p:nvSpPr>
        <p:spPr>
          <a:xfrm>
            <a:off x="438120" y="6305400"/>
            <a:ext cx="1028520" cy="342720"/>
          </a:xfrm>
          <a:prstGeom prst="roundRect">
            <a:avLst>
              <a:gd name="adj" fmla="val 16667"/>
            </a:avLst>
          </a:prstGeom>
          <a:solidFill>
            <a:srgbClr val="17213C"/>
          </a:solidFill>
          <a:ln w="9525">
            <a:solidFill>
              <a:srgbClr val="1721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8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Accueil</a:t>
            </a:r>
            <a:endParaRPr lang="fr-BE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nav-10-prev">
            <a:hlinkClick r:id="rId3" action="ppaction://hlinksldjump"/>
          </p:cNvPr>
          <p:cNvSpPr/>
          <p:nvPr/>
        </p:nvSpPr>
        <p:spPr>
          <a:xfrm>
            <a:off x="1562040" y="6305400"/>
            <a:ext cx="1028520" cy="342720"/>
          </a:xfrm>
          <a:prstGeom prst="roundRect">
            <a:avLst>
              <a:gd name="adj" fmla="val 16667"/>
            </a:avLst>
          </a:prstGeom>
          <a:solidFill>
            <a:srgbClr val="17213C"/>
          </a:solidFill>
          <a:ln w="9525">
            <a:solidFill>
              <a:srgbClr val="1721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8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Retour</a:t>
            </a:r>
            <a:endParaRPr lang="fr-BE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nav-10-next">
            <a:hlinkClick r:id="rId4" action="ppaction://hlinksldjump"/>
          </p:cNvPr>
          <p:cNvSpPr/>
          <p:nvPr/>
        </p:nvSpPr>
        <p:spPr>
          <a:xfrm>
            <a:off x="10363320" y="6305400"/>
            <a:ext cx="1390320" cy="342720"/>
          </a:xfrm>
          <a:prstGeom prst="roundRect">
            <a:avLst>
              <a:gd name="adj" fmla="val 16667"/>
            </a:avLst>
          </a:prstGeom>
          <a:solidFill>
            <a:srgbClr val="13BFEA"/>
          </a:solidFill>
          <a:ln w="9525">
            <a:solidFill>
              <a:srgbClr val="13B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8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Suivant</a:t>
            </a:r>
            <a:endParaRPr lang="fr-BE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90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slide-title"/>
          <p:cNvSpPr/>
          <p:nvPr/>
        </p:nvSpPr>
        <p:spPr>
          <a:xfrm>
            <a:off x="438120" y="247680"/>
            <a:ext cx="809604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2320" b="1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Le paiement de l’acompte bloque le créneau</a:t>
            </a:r>
            <a:endParaRPr lang="fr-BE" sz="2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slide-subtitle"/>
          <p:cNvSpPr/>
          <p:nvPr/>
        </p:nvSpPr>
        <p:spPr>
          <a:xfrm>
            <a:off x="457200" y="666720"/>
            <a:ext cx="80960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Le système de paiement est Stripe</a:t>
            </a:r>
            <a:endParaRPr lang="fr-B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slide-count"/>
          <p:cNvSpPr/>
          <p:nvPr/>
        </p:nvSpPr>
        <p:spPr>
          <a:xfrm>
            <a:off x="11125080" y="343080"/>
            <a:ext cx="6663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13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11/16</a:t>
            </a:r>
            <a:endParaRPr lang="fr-BE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top-rule"/>
          <p:cNvSpPr/>
          <p:nvPr/>
        </p:nvSpPr>
        <p:spPr>
          <a:xfrm>
            <a:off x="438120" y="1028520"/>
            <a:ext cx="11315520" cy="360"/>
          </a:xfrm>
          <a:prstGeom prst="line">
            <a:avLst/>
          </a:prstGeom>
          <a:ln w="9525">
            <a:solidFill>
              <a:srgbClr val="2B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B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browser-frame"/>
          <p:cNvSpPr/>
          <p:nvPr/>
        </p:nvSpPr>
        <p:spPr>
          <a:xfrm>
            <a:off x="438120" y="1181160"/>
            <a:ext cx="11315520" cy="4838400"/>
          </a:xfrm>
          <a:prstGeom prst="roundRect">
            <a:avLst>
              <a:gd name="adj" fmla="val 1575"/>
            </a:avLst>
          </a:prstGeom>
          <a:solidFill>
            <a:srgbClr val="F8FAFC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browser-top"/>
          <p:cNvSpPr/>
          <p:nvPr/>
        </p:nvSpPr>
        <p:spPr>
          <a:xfrm>
            <a:off x="438120" y="1181160"/>
            <a:ext cx="11315520" cy="495000"/>
          </a:xfrm>
          <a:prstGeom prst="roundRect">
            <a:avLst>
              <a:gd name="adj" fmla="val 15385"/>
            </a:avLst>
          </a:prstGeom>
          <a:solidFill>
            <a:srgbClr val="EAF0F7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ab-accueil"/>
          <p:cNvSpPr/>
          <p:nvPr/>
        </p:nvSpPr>
        <p:spPr>
          <a:xfrm>
            <a:off x="666720" y="1305000"/>
            <a:ext cx="1199880" cy="2664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980" b="1" u="none" strike="noStrike">
                <a:solidFill>
                  <a:srgbClr val="25324B"/>
                </a:solidFill>
                <a:effectLst/>
                <a:uFillTx/>
                <a:latin typeface="Calibri"/>
                <a:ea typeface="Calibri"/>
              </a:rPr>
              <a:t>Accueil</a:t>
            </a:r>
            <a:endParaRPr lang="fr-BE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ab-offres"/>
          <p:cNvSpPr/>
          <p:nvPr/>
        </p:nvSpPr>
        <p:spPr>
          <a:xfrm>
            <a:off x="1962000" y="1305000"/>
            <a:ext cx="1199880" cy="2664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980" b="1" u="none" strike="noStrike">
                <a:solidFill>
                  <a:srgbClr val="25324B"/>
                </a:solidFill>
                <a:effectLst/>
                <a:uFillTx/>
                <a:latin typeface="Calibri"/>
                <a:ea typeface="Calibri"/>
              </a:rPr>
              <a:t>Offres</a:t>
            </a:r>
            <a:endParaRPr lang="fr-BE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ab-djs"/>
          <p:cNvSpPr/>
          <p:nvPr/>
        </p:nvSpPr>
        <p:spPr>
          <a:xfrm>
            <a:off x="3257640" y="1305000"/>
            <a:ext cx="1199880" cy="2664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980" b="1" u="none" strike="noStrike">
                <a:solidFill>
                  <a:srgbClr val="25324B"/>
                </a:solidFill>
                <a:effectLst/>
                <a:uFillTx/>
                <a:latin typeface="Calibri"/>
                <a:ea typeface="Calibri"/>
              </a:rPr>
              <a:t>DJs</a:t>
            </a:r>
            <a:endParaRPr lang="fr-BE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ab-réservation"/>
          <p:cNvSpPr/>
          <p:nvPr/>
        </p:nvSpPr>
        <p:spPr>
          <a:xfrm>
            <a:off x="4552920" y="1305000"/>
            <a:ext cx="1199880" cy="266400"/>
          </a:xfrm>
          <a:prstGeom prst="roundRect">
            <a:avLst>
              <a:gd name="adj" fmla="val 21429"/>
            </a:avLst>
          </a:prstGeom>
          <a:solidFill>
            <a:srgbClr val="090E1E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98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Réservation</a:t>
            </a:r>
            <a:endParaRPr lang="fr-BE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tab-profil"/>
          <p:cNvSpPr/>
          <p:nvPr/>
        </p:nvSpPr>
        <p:spPr>
          <a:xfrm>
            <a:off x="5848200" y="1305000"/>
            <a:ext cx="1199880" cy="2664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980" b="1" u="none" strike="noStrike">
                <a:solidFill>
                  <a:srgbClr val="25324B"/>
                </a:solidFill>
                <a:effectLst/>
                <a:uFillTx/>
                <a:latin typeface="Calibri"/>
                <a:ea typeface="Calibri"/>
              </a:rPr>
              <a:t>Profil</a:t>
            </a:r>
            <a:endParaRPr lang="fr-BE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stripe-box"/>
          <p:cNvSpPr/>
          <p:nvPr/>
        </p:nvSpPr>
        <p:spPr>
          <a:xfrm>
            <a:off x="3476520" y="2095560"/>
            <a:ext cx="4952520" cy="2809440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stripe-title"/>
          <p:cNvSpPr/>
          <p:nvPr/>
        </p:nvSpPr>
        <p:spPr>
          <a:xfrm>
            <a:off x="3809880" y="2381400"/>
            <a:ext cx="304776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95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Paiement sécurisé</a:t>
            </a:r>
            <a:endParaRPr lang="fr-BE" sz="1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card-number-label"/>
          <p:cNvSpPr/>
          <p:nvPr/>
        </p:nvSpPr>
        <p:spPr>
          <a:xfrm>
            <a:off x="3809880" y="2952720"/>
            <a:ext cx="33332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050" b="1" u="none" strike="noStrik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Carte</a:t>
            </a:r>
            <a:endParaRPr lang="fr-BE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card-number"/>
          <p:cNvSpPr/>
          <p:nvPr/>
        </p:nvSpPr>
        <p:spPr>
          <a:xfrm>
            <a:off x="3809880" y="3181320"/>
            <a:ext cx="3333240" cy="36144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130" b="0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4242 4242 4242 4242</a:t>
            </a:r>
            <a:endParaRPr lang="fr-BE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card-date-label"/>
          <p:cNvSpPr/>
          <p:nvPr/>
        </p:nvSpPr>
        <p:spPr>
          <a:xfrm>
            <a:off x="3809880" y="3857760"/>
            <a:ext cx="14284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050" b="1" u="none" strike="noStrik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Expiration</a:t>
            </a:r>
            <a:endParaRPr lang="fr-BE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card-date"/>
          <p:cNvSpPr/>
          <p:nvPr/>
        </p:nvSpPr>
        <p:spPr>
          <a:xfrm>
            <a:off x="3809880" y="4086360"/>
            <a:ext cx="1428480" cy="36144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130" b="0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12/28</a:t>
            </a:r>
            <a:endParaRPr lang="fr-BE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card-cvc-label"/>
          <p:cNvSpPr/>
          <p:nvPr/>
        </p:nvSpPr>
        <p:spPr>
          <a:xfrm>
            <a:off x="5524560" y="3857760"/>
            <a:ext cx="11426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050" b="1" u="none" strike="noStrik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CVC</a:t>
            </a:r>
            <a:endParaRPr lang="fr-BE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card-cvc"/>
          <p:cNvSpPr/>
          <p:nvPr/>
        </p:nvSpPr>
        <p:spPr>
          <a:xfrm>
            <a:off x="5524560" y="4086360"/>
            <a:ext cx="1142640" cy="36144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130" b="0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123</a:t>
            </a:r>
            <a:endParaRPr lang="fr-BE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amount"/>
          <p:cNvSpPr/>
          <p:nvPr/>
        </p:nvSpPr>
        <p:spPr>
          <a:xfrm>
            <a:off x="7000920" y="3857760"/>
            <a:ext cx="114264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35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Montant : 300 €</a:t>
            </a:r>
            <a:endParaRPr lang="fr-BE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pay-ok">
            <a:hlinkClick r:id="rId1" action="ppaction://hlinksldjump"/>
          </p:cNvPr>
          <p:cNvSpPr/>
          <p:nvPr/>
        </p:nvSpPr>
        <p:spPr>
          <a:xfrm>
            <a:off x="3809880" y="4457880"/>
            <a:ext cx="1999800" cy="399600"/>
          </a:xfrm>
          <a:prstGeom prst="roundRect">
            <a:avLst>
              <a:gd name="adj" fmla="val 14286"/>
            </a:avLst>
          </a:prstGeom>
          <a:solidFill>
            <a:srgbClr val="13BFEA"/>
          </a:solidFill>
          <a:ln w="9525">
            <a:solidFill>
              <a:srgbClr val="13B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8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Payer l’acompte</a:t>
            </a:r>
            <a:endParaRPr lang="fr-BE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pay-cancel">
            <a:hlinkClick r:id="rId2" action="ppaction://hlinksldjump"/>
          </p:cNvPr>
          <p:cNvSpPr/>
          <p:nvPr/>
        </p:nvSpPr>
        <p:spPr>
          <a:xfrm>
            <a:off x="5952960" y="4457880"/>
            <a:ext cx="1142640" cy="399600"/>
          </a:xfrm>
          <a:prstGeom prst="roundRect">
            <a:avLst>
              <a:gd name="adj" fmla="val 14286"/>
            </a:avLst>
          </a:prstGeom>
          <a:solidFill>
            <a:srgbClr val="17213C"/>
          </a:solidFill>
          <a:ln w="9525">
            <a:solidFill>
              <a:srgbClr val="1721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8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Annuler</a:t>
            </a:r>
            <a:endParaRPr lang="fr-BE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nav-11-home">
            <a:hlinkClick r:id="rId3" action="ppaction://hlinksldjump"/>
          </p:cNvPr>
          <p:cNvSpPr/>
          <p:nvPr/>
        </p:nvSpPr>
        <p:spPr>
          <a:xfrm>
            <a:off x="438120" y="6305400"/>
            <a:ext cx="1028520" cy="342720"/>
          </a:xfrm>
          <a:prstGeom prst="roundRect">
            <a:avLst>
              <a:gd name="adj" fmla="val 16667"/>
            </a:avLst>
          </a:prstGeom>
          <a:solidFill>
            <a:srgbClr val="17213C"/>
          </a:solidFill>
          <a:ln w="9525">
            <a:solidFill>
              <a:srgbClr val="1721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8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Accueil</a:t>
            </a:r>
            <a:endParaRPr lang="fr-BE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nav-11-prev">
            <a:hlinkClick r:id="rId4" action="ppaction://hlinksldjump"/>
          </p:cNvPr>
          <p:cNvSpPr/>
          <p:nvPr/>
        </p:nvSpPr>
        <p:spPr>
          <a:xfrm>
            <a:off x="1562040" y="6305400"/>
            <a:ext cx="1028520" cy="342720"/>
          </a:xfrm>
          <a:prstGeom prst="roundRect">
            <a:avLst>
              <a:gd name="adj" fmla="val 16667"/>
            </a:avLst>
          </a:prstGeom>
          <a:solidFill>
            <a:srgbClr val="17213C"/>
          </a:solidFill>
          <a:ln w="9525">
            <a:solidFill>
              <a:srgbClr val="1721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8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Retour</a:t>
            </a:r>
            <a:endParaRPr lang="fr-BE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nav-11-next">
            <a:hlinkClick r:id="rId5" action="ppaction://hlinksldjump"/>
          </p:cNvPr>
          <p:cNvSpPr/>
          <p:nvPr/>
        </p:nvSpPr>
        <p:spPr>
          <a:xfrm>
            <a:off x="10363320" y="6305400"/>
            <a:ext cx="1390320" cy="342720"/>
          </a:xfrm>
          <a:prstGeom prst="roundRect">
            <a:avLst>
              <a:gd name="adj" fmla="val 16667"/>
            </a:avLst>
          </a:prstGeom>
          <a:solidFill>
            <a:srgbClr val="13BFEA"/>
          </a:solidFill>
          <a:ln w="9525">
            <a:solidFill>
              <a:srgbClr val="13B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8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Suivant</a:t>
            </a:r>
            <a:endParaRPr lang="fr-BE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90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slide-title"/>
          <p:cNvSpPr/>
          <p:nvPr/>
        </p:nvSpPr>
        <p:spPr>
          <a:xfrm>
            <a:off x="438120" y="247680"/>
            <a:ext cx="809604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2320" b="1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La réservation confirmée verrouille la disponibilité</a:t>
            </a:r>
            <a:endParaRPr lang="fr-BE" sz="2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slide-subtitle"/>
          <p:cNvSpPr/>
          <p:nvPr/>
        </p:nvSpPr>
        <p:spPr>
          <a:xfrm>
            <a:off x="457200" y="666720"/>
            <a:ext cx="80960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Le client reçoit une confirmation et peut suivre l’événement</a:t>
            </a:r>
            <a:endParaRPr lang="fr-B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slide-count"/>
          <p:cNvSpPr/>
          <p:nvPr/>
        </p:nvSpPr>
        <p:spPr>
          <a:xfrm>
            <a:off x="11125080" y="343080"/>
            <a:ext cx="6663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13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12/16</a:t>
            </a:r>
            <a:endParaRPr lang="fr-BE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top-rule"/>
          <p:cNvSpPr/>
          <p:nvPr/>
        </p:nvSpPr>
        <p:spPr>
          <a:xfrm>
            <a:off x="438120" y="1028520"/>
            <a:ext cx="11315520" cy="360"/>
          </a:xfrm>
          <a:prstGeom prst="line">
            <a:avLst/>
          </a:prstGeom>
          <a:ln w="9525">
            <a:solidFill>
              <a:srgbClr val="2B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B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browser-frame"/>
          <p:cNvSpPr/>
          <p:nvPr/>
        </p:nvSpPr>
        <p:spPr>
          <a:xfrm>
            <a:off x="438120" y="1181160"/>
            <a:ext cx="11315520" cy="4838400"/>
          </a:xfrm>
          <a:prstGeom prst="roundRect">
            <a:avLst>
              <a:gd name="adj" fmla="val 1575"/>
            </a:avLst>
          </a:prstGeom>
          <a:solidFill>
            <a:srgbClr val="F8FAFC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browser-top"/>
          <p:cNvSpPr/>
          <p:nvPr/>
        </p:nvSpPr>
        <p:spPr>
          <a:xfrm>
            <a:off x="438120" y="1181160"/>
            <a:ext cx="11315520" cy="495000"/>
          </a:xfrm>
          <a:prstGeom prst="roundRect">
            <a:avLst>
              <a:gd name="adj" fmla="val 15385"/>
            </a:avLst>
          </a:prstGeom>
          <a:solidFill>
            <a:srgbClr val="EAF0F7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ab-accueil"/>
          <p:cNvSpPr/>
          <p:nvPr/>
        </p:nvSpPr>
        <p:spPr>
          <a:xfrm>
            <a:off x="666720" y="1305000"/>
            <a:ext cx="1199880" cy="2664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980" b="1" u="none" strike="noStrike">
                <a:solidFill>
                  <a:srgbClr val="25324B"/>
                </a:solidFill>
                <a:effectLst/>
                <a:uFillTx/>
                <a:latin typeface="Calibri"/>
                <a:ea typeface="Calibri"/>
              </a:rPr>
              <a:t>Accueil</a:t>
            </a:r>
            <a:endParaRPr lang="fr-BE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ab-offres"/>
          <p:cNvSpPr/>
          <p:nvPr/>
        </p:nvSpPr>
        <p:spPr>
          <a:xfrm>
            <a:off x="1962000" y="1305000"/>
            <a:ext cx="1199880" cy="2664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980" b="1" u="none" strike="noStrike">
                <a:solidFill>
                  <a:srgbClr val="25324B"/>
                </a:solidFill>
                <a:effectLst/>
                <a:uFillTx/>
                <a:latin typeface="Calibri"/>
                <a:ea typeface="Calibri"/>
              </a:rPr>
              <a:t>Offres</a:t>
            </a:r>
            <a:endParaRPr lang="fr-BE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ab-djs"/>
          <p:cNvSpPr/>
          <p:nvPr/>
        </p:nvSpPr>
        <p:spPr>
          <a:xfrm>
            <a:off x="3257640" y="1305000"/>
            <a:ext cx="1199880" cy="2664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980" b="1" u="none" strike="noStrike">
                <a:solidFill>
                  <a:srgbClr val="25324B"/>
                </a:solidFill>
                <a:effectLst/>
                <a:uFillTx/>
                <a:latin typeface="Calibri"/>
                <a:ea typeface="Calibri"/>
              </a:rPr>
              <a:t>DJs</a:t>
            </a:r>
            <a:endParaRPr lang="fr-BE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ab-réservation"/>
          <p:cNvSpPr/>
          <p:nvPr/>
        </p:nvSpPr>
        <p:spPr>
          <a:xfrm>
            <a:off x="4552920" y="1305000"/>
            <a:ext cx="1199880" cy="266400"/>
          </a:xfrm>
          <a:prstGeom prst="roundRect">
            <a:avLst>
              <a:gd name="adj" fmla="val 21429"/>
            </a:avLst>
          </a:prstGeom>
          <a:solidFill>
            <a:srgbClr val="090E1E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98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Réservation</a:t>
            </a:r>
            <a:endParaRPr lang="fr-BE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tab-profil"/>
          <p:cNvSpPr/>
          <p:nvPr/>
        </p:nvSpPr>
        <p:spPr>
          <a:xfrm>
            <a:off x="5848200" y="1305000"/>
            <a:ext cx="1199880" cy="2664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980" b="1" u="none" strike="noStrike">
                <a:solidFill>
                  <a:srgbClr val="25324B"/>
                </a:solidFill>
                <a:effectLst/>
                <a:uFillTx/>
                <a:latin typeface="Calibri"/>
                <a:ea typeface="Calibri"/>
              </a:rPr>
              <a:t>Profil</a:t>
            </a:r>
            <a:endParaRPr lang="fr-BE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success-icon"/>
          <p:cNvSpPr/>
          <p:nvPr/>
        </p:nvSpPr>
        <p:spPr>
          <a:xfrm>
            <a:off x="1428840" y="2143080"/>
            <a:ext cx="76176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4950" b="1" u="none" strike="noStrike">
                <a:solidFill>
                  <a:srgbClr val="22C55E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lang="fr-BE" sz="4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success-title"/>
          <p:cNvSpPr/>
          <p:nvPr/>
        </p:nvSpPr>
        <p:spPr>
          <a:xfrm>
            <a:off x="2381400" y="2266920"/>
            <a:ext cx="495252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225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Réservation confirmée</a:t>
            </a:r>
            <a:endParaRPr lang="fr-BE" sz="2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success-copy"/>
          <p:cNvSpPr/>
          <p:nvPr/>
        </p:nvSpPr>
        <p:spPr>
          <a:xfrm>
            <a:off x="2381400" y="2781360"/>
            <a:ext cx="590508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430" b="0" u="none" strike="noStrik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Le créneau du 20/09/2026 est bloqué. Il n’apparaît plus dans les disponibilités proposées aux autres clients.</a:t>
            </a:r>
            <a:endParaRPr lang="fr-BE" sz="14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success-to-follow">
            <a:hlinkClick r:id="rId1" action="ppaction://hlinksldjump"/>
          </p:cNvPr>
          <p:cNvSpPr/>
          <p:nvPr/>
        </p:nvSpPr>
        <p:spPr>
          <a:xfrm>
            <a:off x="2381400" y="3857760"/>
            <a:ext cx="2190240" cy="399600"/>
          </a:xfrm>
          <a:prstGeom prst="roundRect">
            <a:avLst>
              <a:gd name="adj" fmla="val 14286"/>
            </a:avLst>
          </a:prstGeom>
          <a:solidFill>
            <a:srgbClr val="13BFEA"/>
          </a:solidFill>
          <a:ln w="9525">
            <a:solidFill>
              <a:srgbClr val="13B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8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Suivre l’événement</a:t>
            </a:r>
            <a:endParaRPr lang="fr-BE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nav-12-home">
            <a:hlinkClick r:id="rId2" action="ppaction://hlinksldjump"/>
          </p:cNvPr>
          <p:cNvSpPr/>
          <p:nvPr/>
        </p:nvSpPr>
        <p:spPr>
          <a:xfrm>
            <a:off x="438120" y="6305400"/>
            <a:ext cx="1028520" cy="342720"/>
          </a:xfrm>
          <a:prstGeom prst="roundRect">
            <a:avLst>
              <a:gd name="adj" fmla="val 16667"/>
            </a:avLst>
          </a:prstGeom>
          <a:solidFill>
            <a:srgbClr val="17213C"/>
          </a:solidFill>
          <a:ln w="9525">
            <a:solidFill>
              <a:srgbClr val="1721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8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Accueil</a:t>
            </a:r>
            <a:endParaRPr lang="fr-BE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nav-12-prev">
            <a:hlinkClick r:id="rId3" action="ppaction://hlinksldjump"/>
          </p:cNvPr>
          <p:cNvSpPr/>
          <p:nvPr/>
        </p:nvSpPr>
        <p:spPr>
          <a:xfrm>
            <a:off x="1562040" y="6305400"/>
            <a:ext cx="1028520" cy="342720"/>
          </a:xfrm>
          <a:prstGeom prst="roundRect">
            <a:avLst>
              <a:gd name="adj" fmla="val 16667"/>
            </a:avLst>
          </a:prstGeom>
          <a:solidFill>
            <a:srgbClr val="17213C"/>
          </a:solidFill>
          <a:ln w="9525">
            <a:solidFill>
              <a:srgbClr val="1721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8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Retour</a:t>
            </a:r>
            <a:endParaRPr lang="fr-BE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nav-12-next">
            <a:hlinkClick r:id="rId4" action="ppaction://hlinksldjump"/>
          </p:cNvPr>
          <p:cNvSpPr/>
          <p:nvPr/>
        </p:nvSpPr>
        <p:spPr>
          <a:xfrm>
            <a:off x="10363320" y="6305400"/>
            <a:ext cx="1390320" cy="342720"/>
          </a:xfrm>
          <a:prstGeom prst="roundRect">
            <a:avLst>
              <a:gd name="adj" fmla="val 16667"/>
            </a:avLst>
          </a:prstGeom>
          <a:solidFill>
            <a:srgbClr val="13BFEA"/>
          </a:solidFill>
          <a:ln w="9525">
            <a:solidFill>
              <a:srgbClr val="13B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8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Suivant</a:t>
            </a:r>
            <a:endParaRPr lang="fr-BE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90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slide-title"/>
          <p:cNvSpPr/>
          <p:nvPr/>
        </p:nvSpPr>
        <p:spPr>
          <a:xfrm>
            <a:off x="438120" y="247680"/>
            <a:ext cx="809604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2320" b="1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Le suivi affiche l’état de l’événement</a:t>
            </a:r>
            <a:endParaRPr lang="fr-BE" sz="2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slide-subtitle"/>
          <p:cNvSpPr/>
          <p:nvPr/>
        </p:nvSpPr>
        <p:spPr>
          <a:xfrm>
            <a:off x="457200" y="666720"/>
            <a:ext cx="80960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Le client et le DJ partagent une vision claire de l’avancement</a:t>
            </a:r>
            <a:endParaRPr lang="fr-B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slide-count"/>
          <p:cNvSpPr/>
          <p:nvPr/>
        </p:nvSpPr>
        <p:spPr>
          <a:xfrm>
            <a:off x="11125080" y="343080"/>
            <a:ext cx="6663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13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13/16</a:t>
            </a:r>
            <a:endParaRPr lang="fr-BE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top-rule"/>
          <p:cNvSpPr/>
          <p:nvPr/>
        </p:nvSpPr>
        <p:spPr>
          <a:xfrm>
            <a:off x="438120" y="1028520"/>
            <a:ext cx="11315520" cy="360"/>
          </a:xfrm>
          <a:prstGeom prst="line">
            <a:avLst/>
          </a:prstGeom>
          <a:ln w="9525">
            <a:solidFill>
              <a:srgbClr val="2B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B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browser-frame"/>
          <p:cNvSpPr/>
          <p:nvPr/>
        </p:nvSpPr>
        <p:spPr>
          <a:xfrm>
            <a:off x="438120" y="1181160"/>
            <a:ext cx="11315520" cy="4838400"/>
          </a:xfrm>
          <a:prstGeom prst="roundRect">
            <a:avLst>
              <a:gd name="adj" fmla="val 1575"/>
            </a:avLst>
          </a:prstGeom>
          <a:solidFill>
            <a:srgbClr val="F8FAFC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browser-top"/>
          <p:cNvSpPr/>
          <p:nvPr/>
        </p:nvSpPr>
        <p:spPr>
          <a:xfrm>
            <a:off x="438120" y="1181160"/>
            <a:ext cx="11315520" cy="495000"/>
          </a:xfrm>
          <a:prstGeom prst="roundRect">
            <a:avLst>
              <a:gd name="adj" fmla="val 15385"/>
            </a:avLst>
          </a:prstGeom>
          <a:solidFill>
            <a:srgbClr val="EAF0F7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ab-accueil"/>
          <p:cNvSpPr/>
          <p:nvPr/>
        </p:nvSpPr>
        <p:spPr>
          <a:xfrm>
            <a:off x="666720" y="1305000"/>
            <a:ext cx="1199880" cy="2664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980" b="1" u="none" strike="noStrike">
                <a:solidFill>
                  <a:srgbClr val="25324B"/>
                </a:solidFill>
                <a:effectLst/>
                <a:uFillTx/>
                <a:latin typeface="Calibri"/>
                <a:ea typeface="Calibri"/>
              </a:rPr>
              <a:t>Accueil</a:t>
            </a:r>
            <a:endParaRPr lang="fr-BE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ab-offres"/>
          <p:cNvSpPr/>
          <p:nvPr/>
        </p:nvSpPr>
        <p:spPr>
          <a:xfrm>
            <a:off x="1962000" y="1305000"/>
            <a:ext cx="1199880" cy="2664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980" b="1" u="none" strike="noStrike">
                <a:solidFill>
                  <a:srgbClr val="25324B"/>
                </a:solidFill>
                <a:effectLst/>
                <a:uFillTx/>
                <a:latin typeface="Calibri"/>
                <a:ea typeface="Calibri"/>
              </a:rPr>
              <a:t>Offres</a:t>
            </a:r>
            <a:endParaRPr lang="fr-BE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ab-djs"/>
          <p:cNvSpPr/>
          <p:nvPr/>
        </p:nvSpPr>
        <p:spPr>
          <a:xfrm>
            <a:off x="3257640" y="1305000"/>
            <a:ext cx="1199880" cy="2664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980" b="1" u="none" strike="noStrike">
                <a:solidFill>
                  <a:srgbClr val="25324B"/>
                </a:solidFill>
                <a:effectLst/>
                <a:uFillTx/>
                <a:latin typeface="Calibri"/>
                <a:ea typeface="Calibri"/>
              </a:rPr>
              <a:t>DJs</a:t>
            </a:r>
            <a:endParaRPr lang="fr-BE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ab-réservation"/>
          <p:cNvSpPr/>
          <p:nvPr/>
        </p:nvSpPr>
        <p:spPr>
          <a:xfrm>
            <a:off x="4552920" y="1305000"/>
            <a:ext cx="1199880" cy="2664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980" b="1" u="none" strike="noStrike">
                <a:solidFill>
                  <a:srgbClr val="25324B"/>
                </a:solidFill>
                <a:effectLst/>
                <a:uFillTx/>
                <a:latin typeface="Calibri"/>
                <a:ea typeface="Calibri"/>
              </a:rPr>
              <a:t>Réservation</a:t>
            </a:r>
            <a:endParaRPr lang="fr-BE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tab-profil"/>
          <p:cNvSpPr/>
          <p:nvPr/>
        </p:nvSpPr>
        <p:spPr>
          <a:xfrm>
            <a:off x="5848200" y="1305000"/>
            <a:ext cx="1199880" cy="266400"/>
          </a:xfrm>
          <a:prstGeom prst="roundRect">
            <a:avLst>
              <a:gd name="adj" fmla="val 21429"/>
            </a:avLst>
          </a:prstGeom>
          <a:solidFill>
            <a:srgbClr val="090E1E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98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Profil</a:t>
            </a:r>
            <a:endParaRPr lang="fr-BE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status-0"/>
          <p:cNvSpPr/>
          <p:nvPr/>
        </p:nvSpPr>
        <p:spPr>
          <a:xfrm>
            <a:off x="1047600" y="2476440"/>
            <a:ext cx="1523520" cy="628200"/>
          </a:xfrm>
          <a:prstGeom prst="roundRect">
            <a:avLst>
              <a:gd name="adj" fmla="val 9091"/>
            </a:avLst>
          </a:prstGeom>
          <a:solidFill>
            <a:srgbClr val="DCFCE7"/>
          </a:solidFill>
          <a:ln w="9525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status-text-0"/>
          <p:cNvSpPr/>
          <p:nvPr/>
        </p:nvSpPr>
        <p:spPr>
          <a:xfrm>
            <a:off x="1162080" y="2685960"/>
            <a:ext cx="1294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Rendez-vous</a:t>
            </a:r>
            <a:endParaRPr lang="fr-B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status-1"/>
          <p:cNvSpPr/>
          <p:nvPr/>
        </p:nvSpPr>
        <p:spPr>
          <a:xfrm>
            <a:off x="2762280" y="2476440"/>
            <a:ext cx="1523520" cy="628200"/>
          </a:xfrm>
          <a:prstGeom prst="roundRect">
            <a:avLst>
              <a:gd name="adj" fmla="val 9091"/>
            </a:avLst>
          </a:prstGeom>
          <a:solidFill>
            <a:srgbClr val="DCFCE7"/>
          </a:solidFill>
          <a:ln w="9525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status-text-1"/>
          <p:cNvSpPr/>
          <p:nvPr/>
        </p:nvSpPr>
        <p:spPr>
          <a:xfrm>
            <a:off x="2876400" y="2685960"/>
            <a:ext cx="1294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Confirmé</a:t>
            </a:r>
            <a:endParaRPr lang="fr-B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status-2"/>
          <p:cNvSpPr/>
          <p:nvPr/>
        </p:nvSpPr>
        <p:spPr>
          <a:xfrm>
            <a:off x="4476600" y="2476440"/>
            <a:ext cx="1523520" cy="628200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9525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status-text-2"/>
          <p:cNvSpPr/>
          <p:nvPr/>
        </p:nvSpPr>
        <p:spPr>
          <a:xfrm>
            <a:off x="4591080" y="2685960"/>
            <a:ext cx="1294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Presté</a:t>
            </a:r>
            <a:endParaRPr lang="fr-B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status-3"/>
          <p:cNvSpPr/>
          <p:nvPr/>
        </p:nvSpPr>
        <p:spPr>
          <a:xfrm>
            <a:off x="6191280" y="2476440"/>
            <a:ext cx="1523520" cy="628200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9525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status-text-3"/>
          <p:cNvSpPr/>
          <p:nvPr/>
        </p:nvSpPr>
        <p:spPr>
          <a:xfrm>
            <a:off x="6305400" y="2685960"/>
            <a:ext cx="1294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Payé</a:t>
            </a:r>
            <a:endParaRPr lang="fr-B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status-4"/>
          <p:cNvSpPr/>
          <p:nvPr/>
        </p:nvSpPr>
        <p:spPr>
          <a:xfrm>
            <a:off x="7905600" y="2476440"/>
            <a:ext cx="1523520" cy="628200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9525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status-text-4"/>
          <p:cNvSpPr/>
          <p:nvPr/>
        </p:nvSpPr>
        <p:spPr>
          <a:xfrm>
            <a:off x="8020080" y="2685960"/>
            <a:ext cx="1294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Clôturé</a:t>
            </a:r>
            <a:endParaRPr lang="fr-B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8" name="follow-to-playlist">
            <a:hlinkClick r:id="rId1" action="ppaction://hlinksldjump"/>
          </p:cNvPr>
          <p:cNvSpPr/>
          <p:nvPr/>
        </p:nvSpPr>
        <p:spPr>
          <a:xfrm>
            <a:off x="1047600" y="4000680"/>
            <a:ext cx="2095200" cy="399600"/>
          </a:xfrm>
          <a:prstGeom prst="roundRect">
            <a:avLst>
              <a:gd name="adj" fmla="val 14286"/>
            </a:avLst>
          </a:prstGeom>
          <a:solidFill>
            <a:srgbClr val="13BFEA"/>
          </a:solidFill>
          <a:ln w="9525">
            <a:solidFill>
              <a:srgbClr val="13B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8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Gérer la playlist</a:t>
            </a:r>
            <a:endParaRPr lang="fr-BE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follow-to-review">
            <a:hlinkClick r:id="rId2" action="ppaction://hlinksldjump"/>
          </p:cNvPr>
          <p:cNvSpPr/>
          <p:nvPr/>
        </p:nvSpPr>
        <p:spPr>
          <a:xfrm>
            <a:off x="3333600" y="4000680"/>
            <a:ext cx="1714320" cy="399600"/>
          </a:xfrm>
          <a:prstGeom prst="roundRect">
            <a:avLst>
              <a:gd name="adj" fmla="val 14286"/>
            </a:avLst>
          </a:prstGeom>
          <a:solidFill>
            <a:srgbClr val="17213C"/>
          </a:solidFill>
          <a:ln w="9525">
            <a:solidFill>
              <a:srgbClr val="1721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8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Laisser un avis</a:t>
            </a:r>
            <a:endParaRPr lang="fr-BE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nav-13-home">
            <a:hlinkClick r:id="rId3" action="ppaction://hlinksldjump"/>
          </p:cNvPr>
          <p:cNvSpPr/>
          <p:nvPr/>
        </p:nvSpPr>
        <p:spPr>
          <a:xfrm>
            <a:off x="438120" y="6305400"/>
            <a:ext cx="1028520" cy="342720"/>
          </a:xfrm>
          <a:prstGeom prst="roundRect">
            <a:avLst>
              <a:gd name="adj" fmla="val 16667"/>
            </a:avLst>
          </a:prstGeom>
          <a:solidFill>
            <a:srgbClr val="17213C"/>
          </a:solidFill>
          <a:ln w="9525">
            <a:solidFill>
              <a:srgbClr val="1721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8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Accueil</a:t>
            </a:r>
            <a:endParaRPr lang="fr-BE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1" name="nav-13-prev">
            <a:hlinkClick r:id="rId4" action="ppaction://hlinksldjump"/>
          </p:cNvPr>
          <p:cNvSpPr/>
          <p:nvPr/>
        </p:nvSpPr>
        <p:spPr>
          <a:xfrm>
            <a:off x="1562040" y="6305400"/>
            <a:ext cx="1028520" cy="342720"/>
          </a:xfrm>
          <a:prstGeom prst="roundRect">
            <a:avLst>
              <a:gd name="adj" fmla="val 16667"/>
            </a:avLst>
          </a:prstGeom>
          <a:solidFill>
            <a:srgbClr val="17213C"/>
          </a:solidFill>
          <a:ln w="9525">
            <a:solidFill>
              <a:srgbClr val="1721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8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Retour</a:t>
            </a:r>
            <a:endParaRPr lang="fr-BE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nav-13-next">
            <a:hlinkClick r:id="rId5" action="ppaction://hlinksldjump"/>
          </p:cNvPr>
          <p:cNvSpPr/>
          <p:nvPr/>
        </p:nvSpPr>
        <p:spPr>
          <a:xfrm>
            <a:off x="10363320" y="6305400"/>
            <a:ext cx="1390320" cy="342720"/>
          </a:xfrm>
          <a:prstGeom prst="roundRect">
            <a:avLst>
              <a:gd name="adj" fmla="val 16667"/>
            </a:avLst>
          </a:prstGeom>
          <a:solidFill>
            <a:srgbClr val="13BFEA"/>
          </a:solidFill>
          <a:ln w="9525">
            <a:solidFill>
              <a:srgbClr val="13B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8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Suivant</a:t>
            </a:r>
            <a:endParaRPr lang="fr-BE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90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slide-title"/>
          <p:cNvSpPr/>
          <p:nvPr/>
        </p:nvSpPr>
        <p:spPr>
          <a:xfrm>
            <a:off x="438120" y="247680"/>
            <a:ext cx="809604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2320" b="1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Le profil garde les préférences du client</a:t>
            </a:r>
            <a:endParaRPr lang="fr-BE" sz="2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4" name="slide-subtitle"/>
          <p:cNvSpPr/>
          <p:nvPr/>
        </p:nvSpPr>
        <p:spPr>
          <a:xfrm>
            <a:off x="457200" y="666720"/>
            <a:ext cx="80960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La langue peut être modifiée à tout moment</a:t>
            </a:r>
            <a:endParaRPr lang="fr-B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5" name="slide-count"/>
          <p:cNvSpPr/>
          <p:nvPr/>
        </p:nvSpPr>
        <p:spPr>
          <a:xfrm>
            <a:off x="11125080" y="343080"/>
            <a:ext cx="6663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13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14/16</a:t>
            </a:r>
            <a:endParaRPr lang="fr-BE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top-rule"/>
          <p:cNvSpPr/>
          <p:nvPr/>
        </p:nvSpPr>
        <p:spPr>
          <a:xfrm>
            <a:off x="438120" y="1028520"/>
            <a:ext cx="11315520" cy="360"/>
          </a:xfrm>
          <a:prstGeom prst="line">
            <a:avLst/>
          </a:prstGeom>
          <a:ln w="9525">
            <a:solidFill>
              <a:srgbClr val="2B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B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browser-frame"/>
          <p:cNvSpPr/>
          <p:nvPr/>
        </p:nvSpPr>
        <p:spPr>
          <a:xfrm>
            <a:off x="438120" y="1181160"/>
            <a:ext cx="11315520" cy="4838400"/>
          </a:xfrm>
          <a:prstGeom prst="roundRect">
            <a:avLst>
              <a:gd name="adj" fmla="val 1575"/>
            </a:avLst>
          </a:prstGeom>
          <a:solidFill>
            <a:srgbClr val="F8FAFC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browser-top"/>
          <p:cNvSpPr/>
          <p:nvPr/>
        </p:nvSpPr>
        <p:spPr>
          <a:xfrm>
            <a:off x="438120" y="1181160"/>
            <a:ext cx="11315520" cy="495000"/>
          </a:xfrm>
          <a:prstGeom prst="roundRect">
            <a:avLst>
              <a:gd name="adj" fmla="val 15385"/>
            </a:avLst>
          </a:prstGeom>
          <a:solidFill>
            <a:srgbClr val="EAF0F7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tab-accueil"/>
          <p:cNvSpPr/>
          <p:nvPr/>
        </p:nvSpPr>
        <p:spPr>
          <a:xfrm>
            <a:off x="666720" y="1305000"/>
            <a:ext cx="1199880" cy="2664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980" b="1" u="none" strike="noStrike">
                <a:solidFill>
                  <a:srgbClr val="25324B"/>
                </a:solidFill>
                <a:effectLst/>
                <a:uFillTx/>
                <a:latin typeface="Calibri"/>
                <a:ea typeface="Calibri"/>
              </a:rPr>
              <a:t>Accueil</a:t>
            </a:r>
            <a:endParaRPr lang="fr-BE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tab-offres"/>
          <p:cNvSpPr/>
          <p:nvPr/>
        </p:nvSpPr>
        <p:spPr>
          <a:xfrm>
            <a:off x="1962000" y="1305000"/>
            <a:ext cx="1199880" cy="2664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980" b="1" u="none" strike="noStrike">
                <a:solidFill>
                  <a:srgbClr val="25324B"/>
                </a:solidFill>
                <a:effectLst/>
                <a:uFillTx/>
                <a:latin typeface="Calibri"/>
                <a:ea typeface="Calibri"/>
              </a:rPr>
              <a:t>Offres</a:t>
            </a:r>
            <a:endParaRPr lang="fr-BE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tab-djs"/>
          <p:cNvSpPr/>
          <p:nvPr/>
        </p:nvSpPr>
        <p:spPr>
          <a:xfrm>
            <a:off x="3257640" y="1305000"/>
            <a:ext cx="1199880" cy="2664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980" b="1" u="none" strike="noStrike">
                <a:solidFill>
                  <a:srgbClr val="25324B"/>
                </a:solidFill>
                <a:effectLst/>
                <a:uFillTx/>
                <a:latin typeface="Calibri"/>
                <a:ea typeface="Calibri"/>
              </a:rPr>
              <a:t>DJs</a:t>
            </a:r>
            <a:endParaRPr lang="fr-BE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ab-réservation"/>
          <p:cNvSpPr/>
          <p:nvPr/>
        </p:nvSpPr>
        <p:spPr>
          <a:xfrm>
            <a:off x="4552920" y="1305000"/>
            <a:ext cx="1199880" cy="2664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980" b="1" u="none" strike="noStrike">
                <a:solidFill>
                  <a:srgbClr val="25324B"/>
                </a:solidFill>
                <a:effectLst/>
                <a:uFillTx/>
                <a:latin typeface="Calibri"/>
                <a:ea typeface="Calibri"/>
              </a:rPr>
              <a:t>Réservation</a:t>
            </a:r>
            <a:endParaRPr lang="fr-BE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ab-profil"/>
          <p:cNvSpPr/>
          <p:nvPr/>
        </p:nvSpPr>
        <p:spPr>
          <a:xfrm>
            <a:off x="5848200" y="1305000"/>
            <a:ext cx="1199880" cy="266400"/>
          </a:xfrm>
          <a:prstGeom prst="roundRect">
            <a:avLst>
              <a:gd name="adj" fmla="val 21429"/>
            </a:avLst>
          </a:prstGeom>
          <a:solidFill>
            <a:srgbClr val="090E1E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98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Profil</a:t>
            </a:r>
            <a:endParaRPr lang="fr-BE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profile-name-label"/>
          <p:cNvSpPr/>
          <p:nvPr/>
        </p:nvSpPr>
        <p:spPr>
          <a:xfrm>
            <a:off x="1047600" y="2143080"/>
            <a:ext cx="34286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050" b="1" u="none" strike="noStrik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Nom</a:t>
            </a:r>
            <a:endParaRPr lang="fr-BE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profile-name"/>
          <p:cNvSpPr/>
          <p:nvPr/>
        </p:nvSpPr>
        <p:spPr>
          <a:xfrm>
            <a:off x="1047600" y="2371680"/>
            <a:ext cx="3428640" cy="36144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130" b="0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TCHAMAKO Vianney Dimitri</a:t>
            </a:r>
            <a:endParaRPr lang="fr-BE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profile-lang-label"/>
          <p:cNvSpPr/>
          <p:nvPr/>
        </p:nvSpPr>
        <p:spPr>
          <a:xfrm>
            <a:off x="4857840" y="2143080"/>
            <a:ext cx="22856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050" b="1" u="none" strike="noStrik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Langue préférée</a:t>
            </a:r>
            <a:endParaRPr lang="fr-BE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profile-lang"/>
          <p:cNvSpPr/>
          <p:nvPr/>
        </p:nvSpPr>
        <p:spPr>
          <a:xfrm>
            <a:off x="4857840" y="2371680"/>
            <a:ext cx="2285640" cy="36144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130" b="0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Français</a:t>
            </a:r>
            <a:endParaRPr lang="fr-BE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profile-email-label"/>
          <p:cNvSpPr/>
          <p:nvPr/>
        </p:nvSpPr>
        <p:spPr>
          <a:xfrm>
            <a:off x="1047600" y="3143160"/>
            <a:ext cx="34286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050" b="1" u="none" strike="noStrik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Email</a:t>
            </a:r>
            <a:endParaRPr lang="fr-BE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9" name="profile-email"/>
          <p:cNvSpPr/>
          <p:nvPr/>
        </p:nvSpPr>
        <p:spPr>
          <a:xfrm>
            <a:off x="1047600" y="3371760"/>
            <a:ext cx="3428640" cy="36144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130" b="0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client@example.com</a:t>
            </a:r>
            <a:endParaRPr lang="fr-BE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language-card"/>
          <p:cNvSpPr/>
          <p:nvPr/>
        </p:nvSpPr>
        <p:spPr>
          <a:xfrm>
            <a:off x="7810560" y="2143080"/>
            <a:ext cx="2666520" cy="16189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language-card-accent"/>
          <p:cNvSpPr/>
          <p:nvPr/>
        </p:nvSpPr>
        <p:spPr>
          <a:xfrm>
            <a:off x="7810560" y="2143080"/>
            <a:ext cx="75960" cy="1618920"/>
          </a:xfrm>
          <a:prstGeom prst="rect">
            <a:avLst/>
          </a:prstGeom>
          <a:solidFill>
            <a:srgbClr val="13BFEA"/>
          </a:solidFill>
          <a:ln w="0">
            <a:solidFill>
              <a:srgbClr val="13BFEA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language-card-title"/>
          <p:cNvSpPr/>
          <p:nvPr/>
        </p:nvSpPr>
        <p:spPr>
          <a:xfrm>
            <a:off x="8020080" y="2295360"/>
            <a:ext cx="23238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5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Langues disponibles</a:t>
            </a:r>
            <a:endParaRPr lang="fr-B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language-card-body"/>
          <p:cNvSpPr/>
          <p:nvPr/>
        </p:nvSpPr>
        <p:spPr>
          <a:xfrm>
            <a:off x="8020080" y="2638440"/>
            <a:ext cx="2323800" cy="10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13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Français par défaut</a:t>
            </a:r>
            <a:endParaRPr lang="fr-BE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13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Anglais</a:t>
            </a:r>
            <a:endParaRPr lang="fr-BE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13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Néerlandais</a:t>
            </a:r>
            <a:endParaRPr lang="fr-BE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4" name="profile-back-home">
            <a:hlinkClick r:id="rId1" action="ppaction://hlinksldjump"/>
          </p:cNvPr>
          <p:cNvSpPr/>
          <p:nvPr/>
        </p:nvSpPr>
        <p:spPr>
          <a:xfrm>
            <a:off x="1047600" y="4334040"/>
            <a:ext cx="2095200" cy="399600"/>
          </a:xfrm>
          <a:prstGeom prst="roundRect">
            <a:avLst>
              <a:gd name="adj" fmla="val 14286"/>
            </a:avLst>
          </a:prstGeom>
          <a:solidFill>
            <a:srgbClr val="13BFEA"/>
          </a:solidFill>
          <a:ln w="9525">
            <a:solidFill>
              <a:srgbClr val="13B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8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Retour à l’accueil</a:t>
            </a:r>
            <a:endParaRPr lang="fr-BE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nav-14-home">
            <a:hlinkClick r:id="rId2" action="ppaction://hlinksldjump"/>
          </p:cNvPr>
          <p:cNvSpPr/>
          <p:nvPr/>
        </p:nvSpPr>
        <p:spPr>
          <a:xfrm>
            <a:off x="438120" y="6305400"/>
            <a:ext cx="1028520" cy="342720"/>
          </a:xfrm>
          <a:prstGeom prst="roundRect">
            <a:avLst>
              <a:gd name="adj" fmla="val 16667"/>
            </a:avLst>
          </a:prstGeom>
          <a:solidFill>
            <a:srgbClr val="17213C"/>
          </a:solidFill>
          <a:ln w="9525">
            <a:solidFill>
              <a:srgbClr val="1721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8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Accueil</a:t>
            </a:r>
            <a:endParaRPr lang="fr-BE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6" name="nav-14-prev">
            <a:hlinkClick r:id="rId3" action="ppaction://hlinksldjump"/>
          </p:cNvPr>
          <p:cNvSpPr/>
          <p:nvPr/>
        </p:nvSpPr>
        <p:spPr>
          <a:xfrm>
            <a:off x="1562040" y="6305400"/>
            <a:ext cx="1028520" cy="342720"/>
          </a:xfrm>
          <a:prstGeom prst="roundRect">
            <a:avLst>
              <a:gd name="adj" fmla="val 16667"/>
            </a:avLst>
          </a:prstGeom>
          <a:solidFill>
            <a:srgbClr val="17213C"/>
          </a:solidFill>
          <a:ln w="9525">
            <a:solidFill>
              <a:srgbClr val="1721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8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Retour</a:t>
            </a:r>
            <a:endParaRPr lang="fr-BE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7" name="nav-14-next">
            <a:hlinkClick r:id="rId4" action="ppaction://hlinksldjump"/>
          </p:cNvPr>
          <p:cNvSpPr/>
          <p:nvPr/>
        </p:nvSpPr>
        <p:spPr>
          <a:xfrm>
            <a:off x="10363320" y="6305400"/>
            <a:ext cx="1390320" cy="342720"/>
          </a:xfrm>
          <a:prstGeom prst="roundRect">
            <a:avLst>
              <a:gd name="adj" fmla="val 16667"/>
            </a:avLst>
          </a:prstGeom>
          <a:solidFill>
            <a:srgbClr val="13BFEA"/>
          </a:solidFill>
          <a:ln w="9525">
            <a:solidFill>
              <a:srgbClr val="13B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8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Suivant</a:t>
            </a:r>
            <a:endParaRPr lang="fr-BE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90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slide-title"/>
          <p:cNvSpPr/>
          <p:nvPr/>
        </p:nvSpPr>
        <p:spPr>
          <a:xfrm>
            <a:off x="438120" y="247680"/>
            <a:ext cx="809604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2320" b="1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La playlist ajoute une vraie valeur métier</a:t>
            </a:r>
            <a:endParaRPr lang="fr-BE" sz="2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9" name="slide-subtitle"/>
          <p:cNvSpPr/>
          <p:nvPr/>
        </p:nvSpPr>
        <p:spPr>
          <a:xfrm>
            <a:off x="457200" y="666720"/>
            <a:ext cx="80960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Le client peut indiquer des chansons spécifiques</a:t>
            </a:r>
            <a:endParaRPr lang="fr-B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0" name="slide-count"/>
          <p:cNvSpPr/>
          <p:nvPr/>
        </p:nvSpPr>
        <p:spPr>
          <a:xfrm>
            <a:off x="11125080" y="343080"/>
            <a:ext cx="6663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13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15/16</a:t>
            </a:r>
            <a:endParaRPr lang="fr-BE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1" name="top-rule"/>
          <p:cNvSpPr/>
          <p:nvPr/>
        </p:nvSpPr>
        <p:spPr>
          <a:xfrm>
            <a:off x="438120" y="1028520"/>
            <a:ext cx="11315520" cy="360"/>
          </a:xfrm>
          <a:prstGeom prst="line">
            <a:avLst/>
          </a:prstGeom>
          <a:ln w="9525">
            <a:solidFill>
              <a:srgbClr val="2B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B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2" name="browser-frame"/>
          <p:cNvSpPr/>
          <p:nvPr/>
        </p:nvSpPr>
        <p:spPr>
          <a:xfrm>
            <a:off x="438120" y="1181160"/>
            <a:ext cx="11315520" cy="4838400"/>
          </a:xfrm>
          <a:prstGeom prst="roundRect">
            <a:avLst>
              <a:gd name="adj" fmla="val 1575"/>
            </a:avLst>
          </a:prstGeom>
          <a:solidFill>
            <a:srgbClr val="F8FAFC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browser-top"/>
          <p:cNvSpPr/>
          <p:nvPr/>
        </p:nvSpPr>
        <p:spPr>
          <a:xfrm>
            <a:off x="438120" y="1181160"/>
            <a:ext cx="11315520" cy="495000"/>
          </a:xfrm>
          <a:prstGeom prst="roundRect">
            <a:avLst>
              <a:gd name="adj" fmla="val 15385"/>
            </a:avLst>
          </a:prstGeom>
          <a:solidFill>
            <a:srgbClr val="EAF0F7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ab-accueil"/>
          <p:cNvSpPr/>
          <p:nvPr/>
        </p:nvSpPr>
        <p:spPr>
          <a:xfrm>
            <a:off x="666720" y="1305000"/>
            <a:ext cx="1199880" cy="2664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980" b="1" u="none" strike="noStrike">
                <a:solidFill>
                  <a:srgbClr val="25324B"/>
                </a:solidFill>
                <a:effectLst/>
                <a:uFillTx/>
                <a:latin typeface="Calibri"/>
                <a:ea typeface="Calibri"/>
              </a:rPr>
              <a:t>Accueil</a:t>
            </a:r>
            <a:endParaRPr lang="fr-BE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tab-offres"/>
          <p:cNvSpPr/>
          <p:nvPr/>
        </p:nvSpPr>
        <p:spPr>
          <a:xfrm>
            <a:off x="1962000" y="1305000"/>
            <a:ext cx="1199880" cy="2664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980" b="1" u="none" strike="noStrike">
                <a:solidFill>
                  <a:srgbClr val="25324B"/>
                </a:solidFill>
                <a:effectLst/>
                <a:uFillTx/>
                <a:latin typeface="Calibri"/>
                <a:ea typeface="Calibri"/>
              </a:rPr>
              <a:t>Offres</a:t>
            </a:r>
            <a:endParaRPr lang="fr-BE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tab-djs"/>
          <p:cNvSpPr/>
          <p:nvPr/>
        </p:nvSpPr>
        <p:spPr>
          <a:xfrm>
            <a:off x="3257640" y="1305000"/>
            <a:ext cx="1199880" cy="2664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980" b="1" u="none" strike="noStrike">
                <a:solidFill>
                  <a:srgbClr val="25324B"/>
                </a:solidFill>
                <a:effectLst/>
                <a:uFillTx/>
                <a:latin typeface="Calibri"/>
                <a:ea typeface="Calibri"/>
              </a:rPr>
              <a:t>DJs</a:t>
            </a:r>
            <a:endParaRPr lang="fr-BE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ab-réservation"/>
          <p:cNvSpPr/>
          <p:nvPr/>
        </p:nvSpPr>
        <p:spPr>
          <a:xfrm>
            <a:off x="4552920" y="1305000"/>
            <a:ext cx="1199880" cy="2664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980" b="1" u="none" strike="noStrike">
                <a:solidFill>
                  <a:srgbClr val="25324B"/>
                </a:solidFill>
                <a:effectLst/>
                <a:uFillTx/>
                <a:latin typeface="Calibri"/>
                <a:ea typeface="Calibri"/>
              </a:rPr>
              <a:t>Réservation</a:t>
            </a:r>
            <a:endParaRPr lang="fr-BE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tab-profil"/>
          <p:cNvSpPr/>
          <p:nvPr/>
        </p:nvSpPr>
        <p:spPr>
          <a:xfrm>
            <a:off x="5848200" y="1305000"/>
            <a:ext cx="1199880" cy="266400"/>
          </a:xfrm>
          <a:prstGeom prst="roundRect">
            <a:avLst>
              <a:gd name="adj" fmla="val 21429"/>
            </a:avLst>
          </a:prstGeom>
          <a:solidFill>
            <a:srgbClr val="090E1E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98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Profil</a:t>
            </a:r>
            <a:endParaRPr lang="fr-BE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9" name="style-pref-label"/>
          <p:cNvSpPr/>
          <p:nvPr/>
        </p:nvSpPr>
        <p:spPr>
          <a:xfrm>
            <a:off x="1047600" y="2095560"/>
            <a:ext cx="409536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050" b="1" u="none" strike="noStrik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Styles musicaux</a:t>
            </a:r>
            <a:endParaRPr lang="fr-BE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0" name="style-pref"/>
          <p:cNvSpPr/>
          <p:nvPr/>
        </p:nvSpPr>
        <p:spPr>
          <a:xfrm>
            <a:off x="1047600" y="2324160"/>
            <a:ext cx="4095360" cy="36144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130" b="0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Afro, house, pop, latino</a:t>
            </a:r>
            <a:endParaRPr lang="fr-BE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song-1-label"/>
          <p:cNvSpPr/>
          <p:nvPr/>
        </p:nvSpPr>
        <p:spPr>
          <a:xfrm>
            <a:off x="1047600" y="3048120"/>
            <a:ext cx="409536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050" b="1" u="none" strike="noStrik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Chanson obligatoire</a:t>
            </a:r>
            <a:endParaRPr lang="fr-BE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2" name="song-1"/>
          <p:cNvSpPr/>
          <p:nvPr/>
        </p:nvSpPr>
        <p:spPr>
          <a:xfrm>
            <a:off x="1047600" y="3276720"/>
            <a:ext cx="4095360" cy="36144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130" b="0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Magic System - Premier Gaou</a:t>
            </a:r>
            <a:endParaRPr lang="fr-BE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song-2-label"/>
          <p:cNvSpPr/>
          <p:nvPr/>
        </p:nvSpPr>
        <p:spPr>
          <a:xfrm>
            <a:off x="5429160" y="3048120"/>
            <a:ext cx="285732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050" b="1" u="none" strike="noStrik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Moment souhaité</a:t>
            </a:r>
            <a:endParaRPr lang="fr-BE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4" name="song-2"/>
          <p:cNvSpPr/>
          <p:nvPr/>
        </p:nvSpPr>
        <p:spPr>
          <a:xfrm>
            <a:off x="5429160" y="3276720"/>
            <a:ext cx="2857320" cy="36144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130" b="0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Ouverture de soirée</a:t>
            </a:r>
            <a:endParaRPr lang="fr-BE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playlist-status"/>
          <p:cNvSpPr/>
          <p:nvPr/>
        </p:nvSpPr>
        <p:spPr>
          <a:xfrm>
            <a:off x="8763120" y="2286000"/>
            <a:ext cx="2095200" cy="1428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playlist-status-accent"/>
          <p:cNvSpPr/>
          <p:nvPr/>
        </p:nvSpPr>
        <p:spPr>
          <a:xfrm>
            <a:off x="8763120" y="2286000"/>
            <a:ext cx="75960" cy="1428480"/>
          </a:xfrm>
          <a:prstGeom prst="rect">
            <a:avLst/>
          </a:prstGeom>
          <a:solidFill>
            <a:srgbClr val="FFC24B"/>
          </a:solidFill>
          <a:ln w="0">
            <a:solidFill>
              <a:srgbClr val="FFC24B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playlist-status-title"/>
          <p:cNvSpPr/>
          <p:nvPr/>
        </p:nvSpPr>
        <p:spPr>
          <a:xfrm>
            <a:off x="8972640" y="2438280"/>
            <a:ext cx="17521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5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Statut playlist</a:t>
            </a:r>
            <a:endParaRPr lang="fr-B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8" name="playlist-status-body"/>
          <p:cNvSpPr/>
          <p:nvPr/>
        </p:nvSpPr>
        <p:spPr>
          <a:xfrm>
            <a:off x="8972640" y="2781360"/>
            <a:ext cx="1752120" cy="81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13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En préparation</a:t>
            </a:r>
            <a:endParaRPr lang="fr-BE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13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Validation par le DJ avant l’événement</a:t>
            </a:r>
            <a:endParaRPr lang="fr-BE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9" name="playlist-save">
            <a:hlinkClick r:id="rId1" action="ppaction://hlinksldjump"/>
          </p:cNvPr>
          <p:cNvSpPr/>
          <p:nvPr/>
        </p:nvSpPr>
        <p:spPr>
          <a:xfrm>
            <a:off x="1047600" y="4238640"/>
            <a:ext cx="2285640" cy="399600"/>
          </a:xfrm>
          <a:prstGeom prst="roundRect">
            <a:avLst>
              <a:gd name="adj" fmla="val 14286"/>
            </a:avLst>
          </a:prstGeom>
          <a:solidFill>
            <a:srgbClr val="13BFEA"/>
          </a:solidFill>
          <a:ln w="9525">
            <a:solidFill>
              <a:srgbClr val="13B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8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Enregistrer la playlist</a:t>
            </a:r>
            <a:endParaRPr lang="fr-BE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nav-15-home">
            <a:hlinkClick r:id="rId2" action="ppaction://hlinksldjump"/>
          </p:cNvPr>
          <p:cNvSpPr/>
          <p:nvPr/>
        </p:nvSpPr>
        <p:spPr>
          <a:xfrm>
            <a:off x="438120" y="6305400"/>
            <a:ext cx="1028520" cy="342720"/>
          </a:xfrm>
          <a:prstGeom prst="roundRect">
            <a:avLst>
              <a:gd name="adj" fmla="val 16667"/>
            </a:avLst>
          </a:prstGeom>
          <a:solidFill>
            <a:srgbClr val="17213C"/>
          </a:solidFill>
          <a:ln w="9525">
            <a:solidFill>
              <a:srgbClr val="1721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8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Accueil</a:t>
            </a:r>
            <a:endParaRPr lang="fr-BE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1" name="nav-15-prev">
            <a:hlinkClick r:id="rId3" action="ppaction://hlinksldjump"/>
          </p:cNvPr>
          <p:cNvSpPr/>
          <p:nvPr/>
        </p:nvSpPr>
        <p:spPr>
          <a:xfrm>
            <a:off x="1562040" y="6305400"/>
            <a:ext cx="1028520" cy="342720"/>
          </a:xfrm>
          <a:prstGeom prst="roundRect">
            <a:avLst>
              <a:gd name="adj" fmla="val 16667"/>
            </a:avLst>
          </a:prstGeom>
          <a:solidFill>
            <a:srgbClr val="17213C"/>
          </a:solidFill>
          <a:ln w="9525">
            <a:solidFill>
              <a:srgbClr val="1721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8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Retour</a:t>
            </a:r>
            <a:endParaRPr lang="fr-BE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2" name="nav-15-next">
            <a:hlinkClick r:id="rId4" action="ppaction://hlinksldjump"/>
          </p:cNvPr>
          <p:cNvSpPr/>
          <p:nvPr/>
        </p:nvSpPr>
        <p:spPr>
          <a:xfrm>
            <a:off x="10363320" y="6305400"/>
            <a:ext cx="1390320" cy="342720"/>
          </a:xfrm>
          <a:prstGeom prst="roundRect">
            <a:avLst>
              <a:gd name="adj" fmla="val 16667"/>
            </a:avLst>
          </a:prstGeom>
          <a:solidFill>
            <a:srgbClr val="13BFEA"/>
          </a:solidFill>
          <a:ln w="9525">
            <a:solidFill>
              <a:srgbClr val="13B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8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Suivant</a:t>
            </a:r>
            <a:endParaRPr lang="fr-BE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90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slide-title"/>
          <p:cNvSpPr/>
          <p:nvPr/>
        </p:nvSpPr>
        <p:spPr>
          <a:xfrm>
            <a:off x="438120" y="247680"/>
            <a:ext cx="809604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2320" b="1" u="none" strike="noStrik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Les cas alternatifs confirment la logique métier</a:t>
            </a:r>
            <a:endParaRPr lang="fr-BE" sz="2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4" name="slide-subtitle"/>
          <p:cNvSpPr/>
          <p:nvPr/>
        </p:nvSpPr>
        <p:spPr>
          <a:xfrm>
            <a:off x="457200" y="666720"/>
            <a:ext cx="80960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Indisponibilité, avis client et retour vers la réservation</a:t>
            </a:r>
            <a:endParaRPr lang="fr-B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5" name="slide-count"/>
          <p:cNvSpPr/>
          <p:nvPr/>
        </p:nvSpPr>
        <p:spPr>
          <a:xfrm>
            <a:off x="11125080" y="343080"/>
            <a:ext cx="6663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13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16/16</a:t>
            </a:r>
            <a:endParaRPr lang="fr-BE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6" name="top-rule"/>
          <p:cNvSpPr/>
          <p:nvPr/>
        </p:nvSpPr>
        <p:spPr>
          <a:xfrm>
            <a:off x="438120" y="1028520"/>
            <a:ext cx="11315520" cy="360"/>
          </a:xfrm>
          <a:prstGeom prst="line">
            <a:avLst/>
          </a:prstGeom>
          <a:ln w="9525">
            <a:solidFill>
              <a:srgbClr val="2B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B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7" name="browser-frame"/>
          <p:cNvSpPr/>
          <p:nvPr/>
        </p:nvSpPr>
        <p:spPr>
          <a:xfrm>
            <a:off x="438120" y="1181160"/>
            <a:ext cx="11315520" cy="4838400"/>
          </a:xfrm>
          <a:prstGeom prst="roundRect">
            <a:avLst>
              <a:gd name="adj" fmla="val 1575"/>
            </a:avLst>
          </a:prstGeom>
          <a:solidFill>
            <a:srgbClr val="F8FAFC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browser-top"/>
          <p:cNvSpPr/>
          <p:nvPr/>
        </p:nvSpPr>
        <p:spPr>
          <a:xfrm>
            <a:off x="438120" y="1181160"/>
            <a:ext cx="11315520" cy="495000"/>
          </a:xfrm>
          <a:prstGeom prst="roundRect">
            <a:avLst>
              <a:gd name="adj" fmla="val 15385"/>
            </a:avLst>
          </a:prstGeom>
          <a:solidFill>
            <a:srgbClr val="EAF0F7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tab-accueil"/>
          <p:cNvSpPr/>
          <p:nvPr/>
        </p:nvSpPr>
        <p:spPr>
          <a:xfrm>
            <a:off x="666720" y="1305000"/>
            <a:ext cx="1199880" cy="2664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980" b="1" u="none" strike="noStrike">
                <a:solidFill>
                  <a:srgbClr val="25324B"/>
                </a:solidFill>
                <a:effectLst/>
                <a:uFillTx/>
                <a:latin typeface="Calibri"/>
                <a:ea typeface="Calibri"/>
              </a:rPr>
              <a:t>Accueil</a:t>
            </a:r>
            <a:endParaRPr lang="fr-BE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tab-offres"/>
          <p:cNvSpPr/>
          <p:nvPr/>
        </p:nvSpPr>
        <p:spPr>
          <a:xfrm>
            <a:off x="1962000" y="1305000"/>
            <a:ext cx="1199880" cy="2664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980" b="1" u="none" strike="noStrike">
                <a:solidFill>
                  <a:srgbClr val="25324B"/>
                </a:solidFill>
                <a:effectLst/>
                <a:uFillTx/>
                <a:latin typeface="Calibri"/>
                <a:ea typeface="Calibri"/>
              </a:rPr>
              <a:t>Offres</a:t>
            </a:r>
            <a:endParaRPr lang="fr-BE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tab-djs"/>
          <p:cNvSpPr/>
          <p:nvPr/>
        </p:nvSpPr>
        <p:spPr>
          <a:xfrm>
            <a:off x="3257640" y="1305000"/>
            <a:ext cx="1199880" cy="2664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980" b="1" u="none" strike="noStrike">
                <a:solidFill>
                  <a:srgbClr val="25324B"/>
                </a:solidFill>
                <a:effectLst/>
                <a:uFillTx/>
                <a:latin typeface="Calibri"/>
                <a:ea typeface="Calibri"/>
              </a:rPr>
              <a:t>DJs</a:t>
            </a:r>
            <a:endParaRPr lang="fr-BE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tab-réservation"/>
          <p:cNvSpPr/>
          <p:nvPr/>
        </p:nvSpPr>
        <p:spPr>
          <a:xfrm>
            <a:off x="4552920" y="1305000"/>
            <a:ext cx="1199880" cy="266400"/>
          </a:xfrm>
          <a:prstGeom prst="roundRect">
            <a:avLst>
              <a:gd name="adj" fmla="val 21429"/>
            </a:avLst>
          </a:prstGeom>
          <a:solidFill>
            <a:srgbClr val="090E1E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98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Réservation</a:t>
            </a:r>
            <a:endParaRPr lang="fr-BE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3" name="tab-profil"/>
          <p:cNvSpPr/>
          <p:nvPr/>
        </p:nvSpPr>
        <p:spPr>
          <a:xfrm>
            <a:off x="5848200" y="1305000"/>
            <a:ext cx="1199880" cy="2664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980" b="1" u="none" strike="noStrike">
                <a:solidFill>
                  <a:srgbClr val="25324B"/>
                </a:solidFill>
                <a:effectLst/>
                <a:uFillTx/>
                <a:latin typeface="Calibri"/>
                <a:ea typeface="Calibri"/>
              </a:rPr>
              <a:t>Profil</a:t>
            </a:r>
            <a:endParaRPr lang="fr-BE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unavailable-title"/>
          <p:cNvSpPr/>
          <p:nvPr/>
        </p:nvSpPr>
        <p:spPr>
          <a:xfrm>
            <a:off x="1047600" y="2095560"/>
            <a:ext cx="400032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2100" b="1" u="none" strike="noStrike">
                <a:solidFill>
                  <a:srgbClr val="EF4444"/>
                </a:solidFill>
                <a:effectLst/>
                <a:uFillTx/>
                <a:latin typeface="Calibri"/>
                <a:ea typeface="Calibri"/>
              </a:rPr>
              <a:t>Créneau indisponible</a:t>
            </a:r>
            <a:endParaRPr lang="fr-BE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5" name="unavailable-copy"/>
          <p:cNvSpPr/>
          <p:nvPr/>
        </p:nvSpPr>
        <p:spPr>
          <a:xfrm>
            <a:off x="1047600" y="2571840"/>
            <a:ext cx="438120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350" b="0" u="none" strike="noStrik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Ce créneau a déjà été confirmé par un autre client. Il n’est plus visible comme disponible dans le parcours normal.</a:t>
            </a:r>
            <a:endParaRPr lang="fr-BE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6" name="review-card"/>
          <p:cNvSpPr/>
          <p:nvPr/>
        </p:nvSpPr>
        <p:spPr>
          <a:xfrm>
            <a:off x="6477120" y="2190600"/>
            <a:ext cx="3428640" cy="16189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D0D7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review-card-accent"/>
          <p:cNvSpPr/>
          <p:nvPr/>
        </p:nvSpPr>
        <p:spPr>
          <a:xfrm>
            <a:off x="6477120" y="2190600"/>
            <a:ext cx="75960" cy="1618920"/>
          </a:xfrm>
          <a:prstGeom prst="rect">
            <a:avLst/>
          </a:prstGeom>
          <a:solidFill>
            <a:srgbClr val="22C55E"/>
          </a:solidFill>
          <a:ln w="0">
            <a:solidFill>
              <a:srgbClr val="22C55E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B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review-card-title"/>
          <p:cNvSpPr/>
          <p:nvPr/>
        </p:nvSpPr>
        <p:spPr>
          <a:xfrm>
            <a:off x="6686640" y="2343240"/>
            <a:ext cx="30859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5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Avis après prestation</a:t>
            </a:r>
            <a:endParaRPr lang="fr-B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9" name="review-card-body"/>
          <p:cNvSpPr/>
          <p:nvPr/>
        </p:nvSpPr>
        <p:spPr>
          <a:xfrm>
            <a:off x="6686640" y="2685960"/>
            <a:ext cx="3085920" cy="10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13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Note : 5/5</a:t>
            </a:r>
            <a:endParaRPr lang="fr-BE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13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Commentaire : prestation professionnelle, playlist respectée.</a:t>
            </a:r>
            <a:endParaRPr lang="fr-BE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0" name="unavailable-back-slots">
            <a:hlinkClick r:id="rId1" action="ppaction://hlinksldjump"/>
          </p:cNvPr>
          <p:cNvSpPr/>
          <p:nvPr/>
        </p:nvSpPr>
        <p:spPr>
          <a:xfrm>
            <a:off x="1047600" y="3714840"/>
            <a:ext cx="2381040" cy="399600"/>
          </a:xfrm>
          <a:prstGeom prst="roundRect">
            <a:avLst>
              <a:gd name="adj" fmla="val 14286"/>
            </a:avLst>
          </a:prstGeom>
          <a:solidFill>
            <a:srgbClr val="13BFEA"/>
          </a:solidFill>
          <a:ln w="9525">
            <a:solidFill>
              <a:srgbClr val="13B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8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Choisir un autre créneau</a:t>
            </a:r>
            <a:endParaRPr lang="fr-BE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review-back-home">
            <a:hlinkClick r:id="rId2" action="ppaction://hlinksldjump"/>
          </p:cNvPr>
          <p:cNvSpPr/>
          <p:nvPr/>
        </p:nvSpPr>
        <p:spPr>
          <a:xfrm>
            <a:off x="6477120" y="4095720"/>
            <a:ext cx="1809360" cy="399600"/>
          </a:xfrm>
          <a:prstGeom prst="roundRect">
            <a:avLst>
              <a:gd name="adj" fmla="val 14286"/>
            </a:avLst>
          </a:prstGeom>
          <a:solidFill>
            <a:srgbClr val="17213C"/>
          </a:solidFill>
          <a:ln w="9525">
            <a:solidFill>
              <a:srgbClr val="1721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8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Retour accueil</a:t>
            </a:r>
            <a:endParaRPr lang="fr-BE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2" name="nav-16-home">
            <a:hlinkClick r:id="rId3" action="ppaction://hlinksldjump"/>
          </p:cNvPr>
          <p:cNvSpPr/>
          <p:nvPr/>
        </p:nvSpPr>
        <p:spPr>
          <a:xfrm>
            <a:off x="438120" y="6305400"/>
            <a:ext cx="1028520" cy="342720"/>
          </a:xfrm>
          <a:prstGeom prst="roundRect">
            <a:avLst>
              <a:gd name="adj" fmla="val 16667"/>
            </a:avLst>
          </a:prstGeom>
          <a:solidFill>
            <a:srgbClr val="17213C"/>
          </a:solidFill>
          <a:ln w="9525">
            <a:solidFill>
              <a:srgbClr val="1721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8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Accueil</a:t>
            </a:r>
            <a:endParaRPr lang="fr-BE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3" name="nav-16-prev">
            <a:hlinkClick r:id="rId4" action="ppaction://hlinksldjump"/>
          </p:cNvPr>
          <p:cNvSpPr/>
          <p:nvPr/>
        </p:nvSpPr>
        <p:spPr>
          <a:xfrm>
            <a:off x="1562040" y="6305400"/>
            <a:ext cx="1028520" cy="342720"/>
          </a:xfrm>
          <a:prstGeom prst="roundRect">
            <a:avLst>
              <a:gd name="adj" fmla="val 16667"/>
            </a:avLst>
          </a:prstGeom>
          <a:solidFill>
            <a:srgbClr val="17213C"/>
          </a:solidFill>
          <a:ln w="9525">
            <a:solidFill>
              <a:srgbClr val="1721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BE" sz="128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Retour</a:t>
            </a:r>
            <a:endParaRPr lang="fr-BE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 pitchFamily="0" charset="1"/>
        <a:ea typeface="Calibri Light" pitchFamily="0" charset="1"/>
        <a:cs typeface="Calibri Light" pitchFamily="0" charset="1"/>
      </a:majorFont>
      <a:minorFont>
        <a:latin typeface="Calibri" pitchFamily="0" charset="1"/>
        <a:ea typeface="Calibri" pitchFamily="0" charset="1"/>
        <a:cs typeface="Calibri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LibreOffice/26.2.4.2$Windows_X86_64 LibreOffice_project/0229ac93fcf0d7cbc6376066c6f35021cef002dc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2026-07-04T11:53:04Z</dcterms:created>
  <dc:creator>Walnut Exporter</dc:creator>
  <dc:description/>
  <dc:language>fr-BE</dc:language>
  <cp:lastModifiedBy/>
  <dcterms:modified xsi:type="dcterms:W3CDTF">2026-07-04T14:07:20Z</dcterms:modified>
  <cp:revision>1</cp:revision>
  <dc:subject/>
  <dc:title>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Converted Presentation</vt:lpwstr>
  </property>
</Properties>
</file>